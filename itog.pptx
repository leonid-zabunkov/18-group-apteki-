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aramond"/>
        <a:ea typeface="Garamond"/>
        <a:cs typeface="Garamond"/>
        <a:sym typeface="Garamon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DCB"/>
          </a:solidFill>
        </a:fill>
      </a:tcStyle>
    </a:wholeTbl>
    <a:band2H>
      <a:tcTxStyle b="def" i="def"/>
      <a:tcStyle>
        <a:tcBdr/>
        <a:fill>
          <a:solidFill>
            <a:srgbClr val="ECEFE7"/>
          </a:solidFill>
        </a:fill>
      </a:tcStyle>
    </a:band2H>
    <a:firstCol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DE"/>
          </a:solidFill>
        </a:fill>
      </a:tcStyle>
    </a:wholeTbl>
    <a:band2H>
      <a:tcTxStyle b="def" i="def"/>
      <a:tcStyle>
        <a:tcBdr/>
        <a:fill>
          <a:solidFill>
            <a:srgbClr val="E8EBEF"/>
          </a:solidFill>
        </a:fill>
      </a:tcStyle>
    </a:band2H>
    <a:firstCol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4CD"/>
          </a:solidFill>
        </a:fill>
      </a:tcStyle>
    </a:wholeTbl>
    <a:band2H>
      <a:tcTxStyle b="def" i="def"/>
      <a:tcStyle>
        <a:tcBdr/>
        <a:fill>
          <a:solidFill>
            <a:srgbClr val="F9F2E8"/>
          </a:solidFill>
        </a:fill>
      </a:tcStyle>
    </a:band2H>
    <a:firstCol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aramond"/>
          <a:ea typeface="Garamond"/>
          <a:cs typeface="Garamon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aramond"/>
          <a:ea typeface="Garamond"/>
          <a:cs typeface="Garamon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30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0" name="Shape 31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6"/>
          <p:cNvGrpSpPr/>
          <p:nvPr/>
        </p:nvGrpSpPr>
        <p:grpSpPr>
          <a:xfrm>
            <a:off x="-20321" y="0"/>
            <a:ext cx="14677393" cy="8227457"/>
            <a:chOff x="0" y="0"/>
            <a:chExt cx="14677392" cy="8227456"/>
          </a:xfrm>
        </p:grpSpPr>
        <p:pic>
          <p:nvPicPr>
            <p:cNvPr id="16" name="Picture 15" descr="Picture 1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0320" y="0"/>
              <a:ext cx="14626592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" name="Rectangle 25"/>
            <p:cNvSpPr/>
            <p:nvPr/>
          </p:nvSpPr>
          <p:spPr>
            <a:xfrm>
              <a:off x="2814319" y="1849117"/>
              <a:ext cx="9052563" cy="4602482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8" name="Picture 16" descr="Picture 1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77130"/>
              <a:ext cx="2973629" cy="7351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Picture 19" descr="Picture 1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703763" y="3777130"/>
              <a:ext cx="2973630" cy="7351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Текст заголовка"/>
          <p:cNvSpPr txBox="1"/>
          <p:nvPr>
            <p:ph type="title"/>
          </p:nvPr>
        </p:nvSpPr>
        <p:spPr>
          <a:xfrm>
            <a:off x="3230877" y="2245357"/>
            <a:ext cx="8178805" cy="1818641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2" name="Уровень текста 1…"/>
          <p:cNvSpPr txBox="1"/>
          <p:nvPr>
            <p:ph type="body" sz="quarter" idx="1"/>
          </p:nvPr>
        </p:nvSpPr>
        <p:spPr>
          <a:xfrm>
            <a:off x="3230877" y="4389116"/>
            <a:ext cx="8178805" cy="1584963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  <a:defRPr sz="2500">
                <a:solidFill>
                  <a:srgbClr val="000000"/>
                </a:solidFill>
              </a:defRPr>
            </a:lvl1pPr>
            <a:lvl2pPr marL="0" indent="548640" algn="ctr">
              <a:buClrTx/>
              <a:buSzTx/>
              <a:buFontTx/>
              <a:buNone/>
              <a:defRPr sz="2500">
                <a:solidFill>
                  <a:srgbClr val="000000"/>
                </a:solidFill>
              </a:defRPr>
            </a:lvl2pPr>
            <a:lvl3pPr marL="0" indent="1097280" algn="ctr">
              <a:buClrTx/>
              <a:buSzTx/>
              <a:buFontTx/>
              <a:buNone/>
              <a:defRPr sz="2500">
                <a:solidFill>
                  <a:srgbClr val="000000"/>
                </a:solidFill>
              </a:defRPr>
            </a:lvl3pPr>
            <a:lvl4pPr marL="0" indent="1645920" algn="ctr">
              <a:buClrTx/>
              <a:buSzTx/>
              <a:buFontTx/>
              <a:buNone/>
              <a:defRPr sz="2500">
                <a:solidFill>
                  <a:srgbClr val="000000"/>
                </a:solidFill>
              </a:defRPr>
            </a:lvl4pPr>
            <a:lvl5pPr marL="0" indent="2194560" algn="ctr">
              <a:buClrTx/>
              <a:buSzTx/>
              <a:buFontTx/>
              <a:buNone/>
              <a:defRPr sz="2500">
                <a:solidFill>
                  <a:srgbClr val="000000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" name="Straight Connector 14"/>
          <p:cNvSpPr/>
          <p:nvPr/>
        </p:nvSpPr>
        <p:spPr>
          <a:xfrm>
            <a:off x="3230878" y="4226557"/>
            <a:ext cx="8178804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Номер слайда"/>
          <p:cNvSpPr txBox="1"/>
          <p:nvPr>
            <p:ph type="sldNum" sz="quarter" idx="2"/>
          </p:nvPr>
        </p:nvSpPr>
        <p:spPr>
          <a:xfrm>
            <a:off x="11162666" y="6084566"/>
            <a:ext cx="247016" cy="2565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31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33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6" name="Straight Connector 6"/>
          <p:cNvSpPr/>
          <p:nvPr/>
        </p:nvSpPr>
        <p:spPr>
          <a:xfrm>
            <a:off x="1675402" y="2905759"/>
            <a:ext cx="11288760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Текст заголовка"/>
          <p:cNvSpPr txBox="1"/>
          <p:nvPr>
            <p:ph type="title"/>
          </p:nvPr>
        </p:nvSpPr>
        <p:spPr>
          <a:xfrm>
            <a:off x="1554483" y="1178558"/>
            <a:ext cx="11521435" cy="156464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8" name="Уровень текста 1…"/>
          <p:cNvSpPr txBox="1"/>
          <p:nvPr>
            <p:ph type="body" sz="half" idx="1"/>
          </p:nvPr>
        </p:nvSpPr>
        <p:spPr>
          <a:xfrm>
            <a:off x="1554480" y="3068318"/>
            <a:ext cx="11521436" cy="3982725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46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7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48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1" name="Текст заголовка"/>
          <p:cNvSpPr txBox="1"/>
          <p:nvPr>
            <p:ph type="title"/>
          </p:nvPr>
        </p:nvSpPr>
        <p:spPr>
          <a:xfrm>
            <a:off x="2418083" y="2103127"/>
            <a:ext cx="9790426" cy="2187018"/>
          </a:xfrm>
          <a:prstGeom prst="rect">
            <a:avLst/>
          </a:prstGeom>
        </p:spPr>
        <p:txBody>
          <a:bodyPr anchor="b"/>
          <a:lstStyle/>
          <a:p>
            <a:pPr/>
            <a:r>
              <a:t>Текст заголовка</a:t>
            </a:r>
          </a:p>
        </p:txBody>
      </p:sp>
      <p:sp>
        <p:nvSpPr>
          <p:cNvPr id="52" name="Уровень текста 1…"/>
          <p:cNvSpPr txBox="1"/>
          <p:nvPr>
            <p:ph type="body" sz="quarter" idx="1"/>
          </p:nvPr>
        </p:nvSpPr>
        <p:spPr>
          <a:xfrm>
            <a:off x="2418079" y="4615262"/>
            <a:ext cx="9790429" cy="1145457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1pPr>
            <a:lvl2pPr marL="0" indent="548640" algn="ctr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2pPr>
            <a:lvl3pPr marL="0" indent="1097280" algn="ctr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3pPr>
            <a:lvl4pPr marL="0" indent="1645920" algn="ctr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4pPr>
            <a:lvl5pPr marL="0" indent="2194560" algn="ctr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" name="Straight Connector 15"/>
          <p:cNvSpPr/>
          <p:nvPr/>
        </p:nvSpPr>
        <p:spPr>
          <a:xfrm>
            <a:off x="2415267" y="4452701"/>
            <a:ext cx="9796058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61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2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63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4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6" name="Straight Connector 7"/>
          <p:cNvSpPr/>
          <p:nvPr/>
        </p:nvSpPr>
        <p:spPr>
          <a:xfrm>
            <a:off x="1675402" y="2905759"/>
            <a:ext cx="11288760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Текст заголовка"/>
          <p:cNvSpPr txBox="1"/>
          <p:nvPr>
            <p:ph type="title"/>
          </p:nvPr>
        </p:nvSpPr>
        <p:spPr>
          <a:xfrm>
            <a:off x="1554483" y="1178558"/>
            <a:ext cx="11521435" cy="156464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68" name="Уровень текста 1…"/>
          <p:cNvSpPr txBox="1"/>
          <p:nvPr>
            <p:ph type="body" sz="quarter" idx="1"/>
          </p:nvPr>
        </p:nvSpPr>
        <p:spPr>
          <a:xfrm>
            <a:off x="1558138" y="3072383"/>
            <a:ext cx="5661965" cy="397215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76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7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78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9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1" name="Текст заголовка"/>
          <p:cNvSpPr txBox="1"/>
          <p:nvPr>
            <p:ph type="title"/>
          </p:nvPr>
        </p:nvSpPr>
        <p:spPr>
          <a:xfrm>
            <a:off x="1554483" y="1178558"/>
            <a:ext cx="11521435" cy="156464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82" name="Уровень текста 1…"/>
          <p:cNvSpPr txBox="1"/>
          <p:nvPr>
            <p:ph type="body" sz="quarter" idx="1"/>
          </p:nvPr>
        </p:nvSpPr>
        <p:spPr>
          <a:xfrm>
            <a:off x="1554480" y="3190239"/>
            <a:ext cx="5661965" cy="691515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800"/>
              </a:spcBef>
              <a:buClrTx/>
              <a:buSzTx/>
              <a:buFontTx/>
              <a:buNone/>
              <a:defRPr sz="3300">
                <a:solidFill>
                  <a:schemeClr val="accent1"/>
                </a:solidFill>
              </a:defRPr>
            </a:lvl1pPr>
            <a:lvl2pPr marL="0" indent="548640">
              <a:spcBef>
                <a:spcPts val="800"/>
              </a:spcBef>
              <a:buClrTx/>
              <a:buSzTx/>
              <a:buFontTx/>
              <a:buNone/>
              <a:defRPr sz="3300">
                <a:solidFill>
                  <a:schemeClr val="accent1"/>
                </a:solidFill>
              </a:defRPr>
            </a:lvl2pPr>
            <a:lvl3pPr marL="0" indent="1097280">
              <a:spcBef>
                <a:spcPts val="800"/>
              </a:spcBef>
              <a:buClrTx/>
              <a:buSzTx/>
              <a:buFontTx/>
              <a:buNone/>
              <a:defRPr sz="3300">
                <a:solidFill>
                  <a:schemeClr val="accent1"/>
                </a:solidFill>
              </a:defRPr>
            </a:lvl3pPr>
            <a:lvl4pPr marL="0" indent="1645920">
              <a:spcBef>
                <a:spcPts val="800"/>
              </a:spcBef>
              <a:buClrTx/>
              <a:buSzTx/>
              <a:buFontTx/>
              <a:buNone/>
              <a:defRPr sz="3300">
                <a:solidFill>
                  <a:schemeClr val="accent1"/>
                </a:solidFill>
              </a:defRPr>
            </a:lvl4pPr>
            <a:lvl5pPr marL="0" indent="2194560">
              <a:spcBef>
                <a:spcPts val="800"/>
              </a:spcBef>
              <a:buClrTx/>
              <a:buSzTx/>
              <a:buFontTx/>
              <a:buNone/>
              <a:defRPr sz="3300">
                <a:solidFill>
                  <a:schemeClr val="accent1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3" name="Text Placeholder 4"/>
          <p:cNvSpPr/>
          <p:nvPr>
            <p:ph type="body" sz="quarter" idx="21"/>
          </p:nvPr>
        </p:nvSpPr>
        <p:spPr>
          <a:xfrm>
            <a:off x="7416803" y="3190239"/>
            <a:ext cx="5661967" cy="691515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800"/>
              </a:spcBef>
              <a:buClrTx/>
              <a:buSzTx/>
              <a:buFontTx/>
              <a:buNone/>
              <a:defRPr sz="3300">
                <a:solidFill>
                  <a:schemeClr val="accent1"/>
                </a:solidFill>
              </a:defRPr>
            </a:pPr>
          </a:p>
        </p:txBody>
      </p:sp>
      <p:sp>
        <p:nvSpPr>
          <p:cNvPr id="84" name="Straight Connector 17"/>
          <p:cNvSpPr/>
          <p:nvPr/>
        </p:nvSpPr>
        <p:spPr>
          <a:xfrm>
            <a:off x="1675402" y="2905759"/>
            <a:ext cx="11288760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92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94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7" name="Текст заголовка"/>
          <p:cNvSpPr txBox="1"/>
          <p:nvPr>
            <p:ph type="title"/>
          </p:nvPr>
        </p:nvSpPr>
        <p:spPr>
          <a:xfrm>
            <a:off x="1554483" y="1178558"/>
            <a:ext cx="11521435" cy="156464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98" name="Straight Connector 13"/>
          <p:cNvSpPr/>
          <p:nvPr/>
        </p:nvSpPr>
        <p:spPr>
          <a:xfrm>
            <a:off x="1675402" y="2905759"/>
            <a:ext cx="11288760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113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4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15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6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8" name="Текст заголовка"/>
          <p:cNvSpPr txBox="1"/>
          <p:nvPr>
            <p:ph type="title"/>
          </p:nvPr>
        </p:nvSpPr>
        <p:spPr>
          <a:xfrm>
            <a:off x="1552574" y="1666240"/>
            <a:ext cx="4462146" cy="1645922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19" name="Уровень текста 1…"/>
          <p:cNvSpPr txBox="1"/>
          <p:nvPr>
            <p:ph type="body" sz="half" idx="1"/>
          </p:nvPr>
        </p:nvSpPr>
        <p:spPr>
          <a:xfrm>
            <a:off x="6502402" y="1178558"/>
            <a:ext cx="6563360" cy="5872482"/>
          </a:xfrm>
          <a:prstGeom prst="rect">
            <a:avLst/>
          </a:prstGeom>
        </p:spPr>
        <p:txBody>
          <a:bodyPr anchor="ctr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0" name="Text Placeholder 3"/>
          <p:cNvSpPr/>
          <p:nvPr>
            <p:ph type="body" sz="quarter" idx="21"/>
          </p:nvPr>
        </p:nvSpPr>
        <p:spPr>
          <a:xfrm>
            <a:off x="1552574" y="3637277"/>
            <a:ext cx="4462146" cy="2926086"/>
          </a:xfrm>
          <a:prstGeom prst="rect">
            <a:avLst/>
          </a:prstGeom>
        </p:spPr>
        <p:txBody>
          <a:bodyPr/>
          <a:lstStyle/>
          <a:p>
            <a:pPr marL="0" indent="0" algn="ctr">
              <a:buClrTx/>
              <a:buSzTx/>
              <a:buFontTx/>
              <a:buNone/>
              <a:defRPr sz="1900"/>
            </a:pPr>
          </a:p>
        </p:txBody>
      </p:sp>
      <p:sp>
        <p:nvSpPr>
          <p:cNvPr id="121" name="Straight Connector 15"/>
          <p:cNvSpPr/>
          <p:nvPr/>
        </p:nvSpPr>
        <p:spPr>
          <a:xfrm>
            <a:off x="1675402" y="3495040"/>
            <a:ext cx="4217399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129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0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31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4" name="Текст заголовка"/>
          <p:cNvSpPr txBox="1"/>
          <p:nvPr>
            <p:ph type="title"/>
          </p:nvPr>
        </p:nvSpPr>
        <p:spPr>
          <a:xfrm>
            <a:off x="1554478" y="2260598"/>
            <a:ext cx="7490181" cy="1645921"/>
          </a:xfrm>
          <a:prstGeom prst="rect">
            <a:avLst/>
          </a:prstGeom>
        </p:spPr>
        <p:txBody>
          <a:bodyPr anchor="b"/>
          <a:lstStyle>
            <a:lvl1pPr>
              <a:defRPr sz="33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35" name="Picture Placeholder 2"/>
          <p:cNvSpPr/>
          <p:nvPr>
            <p:ph type="pic" sz="quarter" idx="21"/>
          </p:nvPr>
        </p:nvSpPr>
        <p:spPr>
          <a:xfrm>
            <a:off x="9713797" y="1249679"/>
            <a:ext cx="3676017" cy="5730242"/>
          </a:xfrm>
          <a:prstGeom prst="rect">
            <a:avLst/>
          </a:prstGeom>
          <a:ln w="57150">
            <a:solidFill>
              <a:srgbClr val="808080"/>
            </a:solidFill>
            <a:miter lim="800000"/>
          </a:ln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6" name="Уровень текста 1…"/>
          <p:cNvSpPr txBox="1"/>
          <p:nvPr>
            <p:ph type="body" sz="quarter" idx="1"/>
          </p:nvPr>
        </p:nvSpPr>
        <p:spPr>
          <a:xfrm>
            <a:off x="1554478" y="3906518"/>
            <a:ext cx="7490181" cy="2194561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  <a:defRPr sz="2100"/>
            </a:lvl1pPr>
            <a:lvl2pPr marL="0" indent="548640" algn="ctr">
              <a:buClrTx/>
              <a:buSzTx/>
              <a:buFontTx/>
              <a:buNone/>
              <a:defRPr sz="2100"/>
            </a:lvl2pPr>
            <a:lvl3pPr marL="0" indent="1097280" algn="ctr">
              <a:buClrTx/>
              <a:buSzTx/>
              <a:buFontTx/>
              <a:buNone/>
              <a:defRPr sz="2100"/>
            </a:lvl3pPr>
            <a:lvl4pPr marL="0" indent="1645920" algn="ctr">
              <a:buClrTx/>
              <a:buSzTx/>
              <a:buFontTx/>
              <a:buNone/>
              <a:defRPr sz="2100"/>
            </a:lvl4pPr>
            <a:lvl5pPr marL="0" indent="2194560" algn="ctr">
              <a:buClrTx/>
              <a:buSzTx/>
              <a:buFontTx/>
              <a:buNone/>
              <a:defRPr sz="21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144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5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46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7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9" name="Текст заголовка"/>
          <p:cNvSpPr txBox="1"/>
          <p:nvPr>
            <p:ph type="title"/>
          </p:nvPr>
        </p:nvSpPr>
        <p:spPr>
          <a:xfrm>
            <a:off x="1554480" y="5778498"/>
            <a:ext cx="11531601" cy="680087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50" name="Picture Placeholder 2"/>
          <p:cNvSpPr/>
          <p:nvPr>
            <p:ph type="pic" idx="21"/>
          </p:nvPr>
        </p:nvSpPr>
        <p:spPr>
          <a:xfrm>
            <a:off x="1249712" y="1249678"/>
            <a:ext cx="12127167" cy="4003044"/>
          </a:xfrm>
          <a:prstGeom prst="rect">
            <a:avLst/>
          </a:prstGeom>
          <a:ln w="57150">
            <a:solidFill>
              <a:srgbClr val="808080"/>
            </a:solidFill>
            <a:miter lim="800000"/>
          </a:ln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51" name="Уровень текста 1…"/>
          <p:cNvSpPr txBox="1"/>
          <p:nvPr>
            <p:ph type="body" sz="quarter" idx="1"/>
          </p:nvPr>
        </p:nvSpPr>
        <p:spPr>
          <a:xfrm>
            <a:off x="1554480" y="6458584"/>
            <a:ext cx="11531601" cy="592455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  <a:defRPr sz="1600"/>
            </a:lvl1pPr>
            <a:lvl2pPr marL="0" indent="548640" algn="ctr">
              <a:buClrTx/>
              <a:buSzTx/>
              <a:buFontTx/>
              <a:buNone/>
              <a:defRPr sz="1600"/>
            </a:lvl2pPr>
            <a:lvl3pPr marL="0" indent="1097280" algn="ctr">
              <a:buClrTx/>
              <a:buSzTx/>
              <a:buFontTx/>
              <a:buNone/>
              <a:defRPr sz="1600"/>
            </a:lvl3pPr>
            <a:lvl4pPr marL="0" indent="1645920" algn="ctr">
              <a:buClrTx/>
              <a:buSzTx/>
              <a:buFontTx/>
              <a:buNone/>
              <a:defRPr sz="1600"/>
            </a:lvl4pPr>
            <a:lvl5pPr marL="0" indent="2194560" algn="ctr">
              <a:buClrTx/>
              <a:buSzTx/>
              <a:buFontTx/>
              <a:buNone/>
              <a:defRPr sz="16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159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0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61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2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64" name="Текст заголовка"/>
          <p:cNvSpPr txBox="1"/>
          <p:nvPr>
            <p:ph type="title"/>
          </p:nvPr>
        </p:nvSpPr>
        <p:spPr>
          <a:xfrm>
            <a:off x="1564641" y="1178558"/>
            <a:ext cx="11511279" cy="3545843"/>
          </a:xfrm>
          <a:prstGeom prst="rect">
            <a:avLst/>
          </a:prstGeom>
        </p:spPr>
        <p:txBody>
          <a:bodyPr/>
          <a:lstStyle>
            <a:lvl1pPr>
              <a:defRPr sz="3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65" name="Уровень текста 1…"/>
          <p:cNvSpPr txBox="1"/>
          <p:nvPr>
            <p:ph type="body" sz="quarter" idx="1"/>
          </p:nvPr>
        </p:nvSpPr>
        <p:spPr>
          <a:xfrm>
            <a:off x="1564641" y="5212079"/>
            <a:ext cx="11511279" cy="1838961"/>
          </a:xfrm>
          <a:prstGeom prst="rect">
            <a:avLst/>
          </a:prstGeom>
        </p:spPr>
        <p:txBody>
          <a:bodyPr anchor="ctr"/>
          <a:lstStyle>
            <a:lvl1pPr marL="0" indent="0" algn="ctr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1pPr>
            <a:lvl2pPr marL="0" indent="548640" algn="ctr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2pPr>
            <a:lvl3pPr marL="0" indent="1097280" algn="ctr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3pPr>
            <a:lvl4pPr marL="0" indent="1645920" algn="ctr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4pPr>
            <a:lvl5pPr marL="0" indent="2194560" algn="ctr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6" name="Straight Connector 14"/>
          <p:cNvSpPr/>
          <p:nvPr/>
        </p:nvSpPr>
        <p:spPr>
          <a:xfrm>
            <a:off x="1675402" y="4968238"/>
            <a:ext cx="11288760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174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5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76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7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9" name="Текст заголовка"/>
          <p:cNvSpPr txBox="1"/>
          <p:nvPr>
            <p:ph type="title"/>
          </p:nvPr>
        </p:nvSpPr>
        <p:spPr>
          <a:xfrm>
            <a:off x="1735454" y="1178558"/>
            <a:ext cx="11155679" cy="2844802"/>
          </a:xfrm>
          <a:prstGeom prst="rect">
            <a:avLst/>
          </a:prstGeom>
        </p:spPr>
        <p:txBody>
          <a:bodyPr/>
          <a:lstStyle>
            <a:lvl1pPr>
              <a:defRPr sz="3800">
                <a:solidFill>
                  <a:srgbClr val="000000"/>
                </a:solidFill>
              </a:defRPr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80" name="Уровень текста 1…"/>
          <p:cNvSpPr txBox="1"/>
          <p:nvPr>
            <p:ph type="body" sz="quarter" idx="1"/>
          </p:nvPr>
        </p:nvSpPr>
        <p:spPr>
          <a:xfrm>
            <a:off x="2009775" y="4023359"/>
            <a:ext cx="10607042" cy="701041"/>
          </a:xfrm>
          <a:prstGeom prst="rect">
            <a:avLst/>
          </a:prstGeom>
        </p:spPr>
        <p:txBody>
          <a:bodyPr anchor="ctr"/>
          <a:lstStyle>
            <a:lvl1pPr marL="0" indent="0" algn="r">
              <a:buClrTx/>
              <a:buSzTx/>
              <a:buFontTx/>
              <a:buNone/>
              <a:defRPr sz="2400"/>
            </a:lvl1pPr>
            <a:lvl2pPr marL="0" indent="548640" algn="r">
              <a:buClrTx/>
              <a:buSzTx/>
              <a:buFontTx/>
              <a:buNone/>
              <a:defRPr sz="2400"/>
            </a:lvl2pPr>
            <a:lvl3pPr marL="0" indent="1097280" algn="r">
              <a:buClrTx/>
              <a:buSzTx/>
              <a:buFontTx/>
              <a:buNone/>
              <a:defRPr sz="2400"/>
            </a:lvl3pPr>
            <a:lvl4pPr marL="0" indent="1645920" algn="r">
              <a:buClrTx/>
              <a:buSzTx/>
              <a:buFontTx/>
              <a:buNone/>
              <a:defRPr sz="2400"/>
            </a:lvl4pPr>
            <a:lvl5pPr marL="0" indent="2194560" algn="r">
              <a:buClrTx/>
              <a:buSzTx/>
              <a:buFontTx/>
              <a:buNone/>
              <a:defRPr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81" name="Text Placeholder 2"/>
          <p:cNvSpPr/>
          <p:nvPr>
            <p:ph type="body" sz="quarter" idx="21"/>
          </p:nvPr>
        </p:nvSpPr>
        <p:spPr>
          <a:xfrm>
            <a:off x="1554480" y="5212079"/>
            <a:ext cx="11531601" cy="1838961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pPr>
          </a:p>
        </p:txBody>
      </p:sp>
      <p:sp>
        <p:nvSpPr>
          <p:cNvPr id="182" name="TextBox 13"/>
          <p:cNvSpPr txBox="1"/>
          <p:nvPr/>
        </p:nvSpPr>
        <p:spPr>
          <a:xfrm>
            <a:off x="1089280" y="666154"/>
            <a:ext cx="621793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>
            <a:lvl1pPr>
              <a:defRPr sz="9600"/>
            </a:lvl1pPr>
          </a:lstStyle>
          <a:p>
            <a:pPr/>
            <a:r>
              <a:t>“</a:t>
            </a:r>
          </a:p>
        </p:txBody>
      </p:sp>
      <p:sp>
        <p:nvSpPr>
          <p:cNvPr id="183" name="TextBox 14"/>
          <p:cNvSpPr txBox="1"/>
          <p:nvPr/>
        </p:nvSpPr>
        <p:spPr>
          <a:xfrm>
            <a:off x="12775183" y="3003645"/>
            <a:ext cx="621793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>
            <a:lvl1pPr algn="r">
              <a:defRPr sz="9600"/>
            </a:lvl1pPr>
          </a:lstStyle>
          <a:p>
            <a:pPr/>
            <a:r>
              <a:t>”</a:t>
            </a:r>
          </a:p>
        </p:txBody>
      </p:sp>
      <p:sp>
        <p:nvSpPr>
          <p:cNvPr id="184" name="Straight Connector 18"/>
          <p:cNvSpPr/>
          <p:nvPr/>
        </p:nvSpPr>
        <p:spPr>
          <a:xfrm>
            <a:off x="1675402" y="4968238"/>
            <a:ext cx="11288760" cy="1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192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3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194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5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7" name="Текст заголовка"/>
          <p:cNvSpPr txBox="1"/>
          <p:nvPr>
            <p:ph type="title"/>
          </p:nvPr>
        </p:nvSpPr>
        <p:spPr>
          <a:xfrm>
            <a:off x="1554481" y="3970297"/>
            <a:ext cx="11531604" cy="1762561"/>
          </a:xfrm>
          <a:prstGeom prst="rect">
            <a:avLst/>
          </a:prstGeom>
        </p:spPr>
        <p:txBody>
          <a:bodyPr anchor="b"/>
          <a:lstStyle>
            <a:lvl1pPr algn="l">
              <a:defRPr sz="38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98" name="Уровень текста 1…"/>
          <p:cNvSpPr txBox="1"/>
          <p:nvPr>
            <p:ph type="body" sz="quarter" idx="1"/>
          </p:nvPr>
        </p:nvSpPr>
        <p:spPr>
          <a:xfrm>
            <a:off x="1554480" y="5732857"/>
            <a:ext cx="11531604" cy="103248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1pPr>
            <a:lvl2pPr marL="0" indent="548640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2pPr>
            <a:lvl3pPr marL="0" indent="1097280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3pPr>
            <a:lvl4pPr marL="0" indent="1645920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4pPr>
            <a:lvl5pPr marL="0" indent="2194560">
              <a:buClrTx/>
              <a:buSzTx/>
              <a:buFontTx/>
              <a:buNone/>
              <a:defRPr sz="2400">
                <a:solidFill>
                  <a:srgbClr val="000000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206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7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08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9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1" name="Текст заголовка"/>
          <p:cNvSpPr txBox="1"/>
          <p:nvPr>
            <p:ph type="title"/>
          </p:nvPr>
        </p:nvSpPr>
        <p:spPr>
          <a:xfrm>
            <a:off x="1735454" y="1178558"/>
            <a:ext cx="11155679" cy="2692402"/>
          </a:xfrm>
          <a:prstGeom prst="rect">
            <a:avLst/>
          </a:prstGeom>
        </p:spPr>
        <p:txBody>
          <a:bodyPr/>
          <a:lstStyle>
            <a:lvl1pPr>
              <a:defRPr sz="3800">
                <a:solidFill>
                  <a:srgbClr val="000000"/>
                </a:solidFill>
              </a:defRPr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12" name="Уровень текста 1…"/>
          <p:cNvSpPr txBox="1"/>
          <p:nvPr>
            <p:ph type="body" sz="quarter" idx="1"/>
          </p:nvPr>
        </p:nvSpPr>
        <p:spPr>
          <a:xfrm>
            <a:off x="1554480" y="4367174"/>
            <a:ext cx="11531604" cy="10643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1pPr>
            <a:lvl2pPr marL="0" indent="548640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2pPr>
            <a:lvl3pPr marL="0" indent="1097280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3pPr>
            <a:lvl4pPr marL="0" indent="1645920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4pPr>
            <a:lvl5pPr marL="0" indent="2194560">
              <a:buClrTx/>
              <a:buSzTx/>
              <a:buFontTx/>
              <a:buNone/>
              <a:defRPr>
                <a:solidFill>
                  <a:srgbClr val="000000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13" name="Text Placeholder 2"/>
          <p:cNvSpPr/>
          <p:nvPr>
            <p:ph type="body" sz="quarter" idx="21"/>
          </p:nvPr>
        </p:nvSpPr>
        <p:spPr>
          <a:xfrm>
            <a:off x="1554480" y="5435600"/>
            <a:ext cx="11531604" cy="1615441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214" name="TextBox 11"/>
          <p:cNvSpPr txBox="1"/>
          <p:nvPr/>
        </p:nvSpPr>
        <p:spPr>
          <a:xfrm>
            <a:off x="1089280" y="666154"/>
            <a:ext cx="621793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>
            <a:lvl1pPr>
              <a:defRPr sz="9600"/>
            </a:lvl1pPr>
          </a:lstStyle>
          <a:p>
            <a:pPr/>
            <a:r>
              <a:t>“</a:t>
            </a:r>
          </a:p>
        </p:txBody>
      </p:sp>
      <p:sp>
        <p:nvSpPr>
          <p:cNvPr id="215" name="TextBox 12"/>
          <p:cNvSpPr txBox="1"/>
          <p:nvPr/>
        </p:nvSpPr>
        <p:spPr>
          <a:xfrm>
            <a:off x="12775183" y="2729314"/>
            <a:ext cx="621793" cy="1481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4864" tIns="54864" rIns="54864" bIns="54864" anchor="ctr">
            <a:spAutoFit/>
          </a:bodyPr>
          <a:lstStyle>
            <a:lvl1pPr algn="r">
              <a:defRPr sz="9600"/>
            </a:lvl1pPr>
          </a:lstStyle>
          <a:p>
            <a:pPr/>
            <a:r>
              <a:t>”</a:t>
            </a:r>
          </a:p>
        </p:txBody>
      </p:sp>
      <p:sp>
        <p:nvSpPr>
          <p:cNvPr id="216" name="Straight Connector 25"/>
          <p:cNvSpPr/>
          <p:nvPr/>
        </p:nvSpPr>
        <p:spPr>
          <a:xfrm>
            <a:off x="1675402" y="4114800"/>
            <a:ext cx="112887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224" name="Picture 7" descr="Picture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25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226" name="Picture 9" descr="Picture 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7" name="Picture 10" descr="Picture 1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29" name="Текст заголовка"/>
          <p:cNvSpPr txBox="1"/>
          <p:nvPr>
            <p:ph type="title"/>
          </p:nvPr>
        </p:nvSpPr>
        <p:spPr>
          <a:xfrm>
            <a:off x="1554480" y="1178558"/>
            <a:ext cx="11531601" cy="2692402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30" name="Уровень текста 1…"/>
          <p:cNvSpPr txBox="1"/>
          <p:nvPr>
            <p:ph type="body" sz="quarter" idx="1"/>
          </p:nvPr>
        </p:nvSpPr>
        <p:spPr>
          <a:xfrm>
            <a:off x="1554480" y="4356201"/>
            <a:ext cx="11531604" cy="1009499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3300">
                <a:solidFill>
                  <a:srgbClr val="000000"/>
                </a:solidFill>
              </a:defRPr>
            </a:lvl1pPr>
            <a:lvl2pPr marL="0" indent="548640">
              <a:buClrTx/>
              <a:buSzTx/>
              <a:buFontTx/>
              <a:buNone/>
              <a:defRPr sz="3300">
                <a:solidFill>
                  <a:srgbClr val="000000"/>
                </a:solidFill>
              </a:defRPr>
            </a:lvl2pPr>
            <a:lvl3pPr marL="0" indent="1097280">
              <a:buClrTx/>
              <a:buSzTx/>
              <a:buFontTx/>
              <a:buNone/>
              <a:defRPr sz="3300">
                <a:solidFill>
                  <a:srgbClr val="000000"/>
                </a:solidFill>
              </a:defRPr>
            </a:lvl3pPr>
            <a:lvl4pPr marL="0" indent="1645920">
              <a:buClrTx/>
              <a:buSzTx/>
              <a:buFontTx/>
              <a:buNone/>
              <a:defRPr sz="3300">
                <a:solidFill>
                  <a:srgbClr val="000000"/>
                </a:solidFill>
              </a:defRPr>
            </a:lvl4pPr>
            <a:lvl5pPr marL="0" indent="2194560">
              <a:buClrTx/>
              <a:buSzTx/>
              <a:buFontTx/>
              <a:buNone/>
              <a:defRPr sz="3300">
                <a:solidFill>
                  <a:srgbClr val="000000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1" name="Text Placeholder 2"/>
          <p:cNvSpPr/>
          <p:nvPr>
            <p:ph type="body" sz="quarter" idx="21"/>
          </p:nvPr>
        </p:nvSpPr>
        <p:spPr>
          <a:xfrm>
            <a:off x="1554480" y="5364479"/>
            <a:ext cx="11531604" cy="1686561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pPr>
          </a:p>
        </p:txBody>
      </p:sp>
      <p:sp>
        <p:nvSpPr>
          <p:cNvPr id="232" name="Straight Connector 14"/>
          <p:cNvSpPr/>
          <p:nvPr/>
        </p:nvSpPr>
        <p:spPr>
          <a:xfrm>
            <a:off x="1675402" y="4114800"/>
            <a:ext cx="1128876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Номер слайда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5.xml"/><Relationship Id="rId20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2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8883" y="0"/>
            <a:ext cx="14675953" cy="8227457"/>
            <a:chOff x="0" y="0"/>
            <a:chExt cx="14675952" cy="8227456"/>
          </a:xfrm>
        </p:grpSpPr>
        <p:pic>
          <p:nvPicPr>
            <p:cNvPr id="2" name="Picture 7" descr="Picture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8883" y="0"/>
              <a:ext cx="14626590" cy="82274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" name="Rectangle 8"/>
            <p:cNvSpPr/>
            <p:nvPr/>
          </p:nvSpPr>
          <p:spPr>
            <a:xfrm>
              <a:off x="748497" y="731520"/>
              <a:ext cx="13167360" cy="6766560"/>
            </a:xfrm>
            <a:prstGeom prst="rect">
              <a:avLst/>
            </a:prstGeom>
            <a:noFill/>
            <a:ln w="15875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pic>
          <p:nvPicPr>
            <p:cNvPr id="4" name="Picture 9" descr="Picture 9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3784598"/>
              <a:ext cx="932689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" name="Picture 10" descr="Picture 10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3743265" y="3784598"/>
              <a:ext cx="932688" cy="7277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" name="Текст заголовка"/>
          <p:cNvSpPr txBox="1"/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8" name="Уровень текста 1…"/>
          <p:cNvSpPr txBox="1"/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" name="Номер слайда"/>
          <p:cNvSpPr txBox="1"/>
          <p:nvPr>
            <p:ph type="sldNum" sz="quarter" idx="2"/>
          </p:nvPr>
        </p:nvSpPr>
        <p:spPr>
          <a:xfrm>
            <a:off x="12828903" y="7202170"/>
            <a:ext cx="247016" cy="2565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672" r:id="rId28"/>
    <p:sldLayoutId id="2147483673" r:id="rId29"/>
  </p:sldLayoutIdLst>
  <p:transition xmlns:p14="http://schemas.microsoft.com/office/powerpoint/2010/main" spd="med" advClick="1"/>
  <p:txStyles>
    <p:titleStyle>
      <a:lvl1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1pPr>
      <a:lvl2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2pPr>
      <a:lvl3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3pPr>
      <a:lvl4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4pPr>
      <a:lvl5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5pPr>
      <a:lvl6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6pPr>
      <a:lvl7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7pPr>
      <a:lvl8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8pPr>
      <a:lvl9pPr marL="0" marR="0" indent="0" algn="ctr" defTabSz="54864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9pPr>
    </p:titleStyle>
    <p:bodyStyle>
      <a:lvl1pPr marL="342900" marR="0" indent="-342900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1pPr>
      <a:lvl2pPr marL="948689" marR="0" indent="-400050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2pPr>
      <a:lvl3pPr marL="1554480" marR="0" indent="-457200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3pPr>
      <a:lvl4pPr marL="1949115" marR="0" indent="-303195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4pPr>
      <a:lvl5pPr marL="2554604" marR="0" indent="-360044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5pPr>
      <a:lvl6pPr marL="3223260" marR="0" indent="-480060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6pPr>
      <a:lvl7pPr marL="3771900" marR="0" indent="-480060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7pPr>
      <a:lvl8pPr marL="4320540" marR="0" indent="-480060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8pPr>
      <a:lvl9pPr marL="4869180" marR="0" indent="-480060" algn="l" defTabSz="548640" rtl="0" latinLnBrk="0">
        <a:lnSpc>
          <a:spcPct val="100000"/>
        </a:lnSpc>
        <a:spcBef>
          <a:spcPts val="700"/>
        </a:spcBef>
        <a:spcAft>
          <a:spcPts val="0"/>
        </a:spcAft>
        <a:buClr>
          <a:schemeClr val="accent1"/>
        </a:buClr>
        <a:buSzPct val="115000"/>
        <a:buFont typeface="Arial"/>
        <a:buChar char="•"/>
        <a:tabLst/>
        <a:defRPr b="0" baseline="0" cap="none" i="0" spc="0" strike="noStrike" sz="2800" u="none">
          <a:solidFill>
            <a:srgbClr val="262626"/>
          </a:solidFill>
          <a:uFillTx/>
          <a:latin typeface="Garamond"/>
          <a:ea typeface="Garamond"/>
          <a:cs typeface="Garamond"/>
          <a:sym typeface="Garamon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1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 txBox="1"/>
          <p:nvPr/>
        </p:nvSpPr>
        <p:spPr>
          <a:xfrm>
            <a:off x="1103113" y="3103247"/>
            <a:ext cx="12424173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Визуализация и Лексический Анализ Отзывов</a:t>
            </a:r>
          </a:p>
        </p:txBody>
      </p:sp>
      <p:sp>
        <p:nvSpPr>
          <p:cNvPr id="313" name="Text 1"/>
          <p:cNvSpPr txBox="1"/>
          <p:nvPr/>
        </p:nvSpPr>
        <p:spPr>
          <a:xfrm>
            <a:off x="4631974" y="4577413"/>
            <a:ext cx="5366452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Аптечные сети Санкт-Петербурга на Яндекс Картах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316" name="Text 0"/>
          <p:cNvSpPr txBox="1"/>
          <p:nvPr/>
        </p:nvSpPr>
        <p:spPr>
          <a:xfrm>
            <a:off x="1285456" y="1630395"/>
            <a:ext cx="7556422" cy="1108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400"/>
              </a:lnSpc>
              <a:defRPr sz="35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Обзор Проекта: Изучение Отзывов Пользователей</a:t>
            </a:r>
          </a:p>
        </p:txBody>
      </p:sp>
      <p:sp>
        <p:nvSpPr>
          <p:cNvPr id="317" name="Text 1"/>
          <p:cNvSpPr txBox="1"/>
          <p:nvPr/>
        </p:nvSpPr>
        <p:spPr>
          <a:xfrm>
            <a:off x="1285456" y="3104508"/>
            <a:ext cx="7556422" cy="1756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Данный проект направлен на глубокий анализ отзывов пользователей Яндекс Карт о сетях аптек. Используя методы обработки естественного языка (NLP), мы выделяем ключевые тематические акценты, оцениваем тональность высказываний и визуализируем результаты для идентификации "болевых точек" бизнеса.</a:t>
            </a:r>
          </a:p>
        </p:txBody>
      </p:sp>
      <p:sp>
        <p:nvSpPr>
          <p:cNvPr id="318" name="Text 2"/>
          <p:cNvSpPr txBox="1"/>
          <p:nvPr/>
        </p:nvSpPr>
        <p:spPr>
          <a:xfrm>
            <a:off x="1285456" y="5537074"/>
            <a:ext cx="7556422" cy="104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Для визуализации и построения дашборда использовался инструмент </a:t>
            </a:r>
            <a:r>
              <a:rPr b="1"/>
              <a:t>Yandex DataLens</a:t>
            </a:r>
            <a:r>
              <a:t>, предоставляющий интерактивную панель для фильтрации данных по сезонам.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 txBox="1"/>
          <p:nvPr/>
        </p:nvSpPr>
        <p:spPr>
          <a:xfrm>
            <a:off x="1126405" y="872328"/>
            <a:ext cx="3873004" cy="512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100"/>
              </a:lnSpc>
              <a:defRPr sz="33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Структура Проекта</a:t>
            </a:r>
          </a:p>
        </p:txBody>
      </p:sp>
      <p:sp>
        <p:nvSpPr>
          <p:cNvPr id="321" name="Text 1"/>
          <p:cNvSpPr txBox="1"/>
          <p:nvPr/>
        </p:nvSpPr>
        <p:spPr>
          <a:xfrm>
            <a:off x="1152981" y="1620322"/>
            <a:ext cx="4949429" cy="97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Для обеспечения ясности и воспроизводимости анализа проект организован в следующую структуру:</a:t>
            </a:r>
          </a:p>
        </p:txBody>
      </p:sp>
      <p:sp>
        <p:nvSpPr>
          <p:cNvPr id="322" name="Text 2"/>
          <p:cNvSpPr txBox="1"/>
          <p:nvPr/>
        </p:nvSpPr>
        <p:spPr>
          <a:xfrm>
            <a:off x="1152981" y="2826662"/>
            <a:ext cx="4949429" cy="971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600"/>
              </a:lnSpc>
              <a:buSzPct val="100000"/>
              <a:buChar char="•"/>
              <a:defRPr b="1"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BD/</a:t>
            </a:r>
            <a:r>
              <a:rPr b="0"/>
              <a:t>: Содержит сырые и обработанные данные, а также словари для тематической категоризации.</a:t>
            </a:r>
          </a:p>
        </p:txBody>
      </p:sp>
      <p:sp>
        <p:nvSpPr>
          <p:cNvPr id="323" name="Text 3"/>
          <p:cNvSpPr txBox="1"/>
          <p:nvPr/>
        </p:nvSpPr>
        <p:spPr>
          <a:xfrm>
            <a:off x="1152981" y="3916559"/>
            <a:ext cx="4949429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600"/>
              </a:lnSpc>
              <a:buSzPct val="100000"/>
              <a:buChar char="•"/>
              <a:defRPr b="1"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notebooks/</a:t>
            </a:r>
            <a:r>
              <a:rPr b="0"/>
              <a:t>: Включает Jupyter Notebook с кодом обработки данных.</a:t>
            </a:r>
          </a:p>
        </p:txBody>
      </p:sp>
      <p:sp>
        <p:nvSpPr>
          <p:cNvPr id="324" name="Text 4"/>
          <p:cNvSpPr txBox="1"/>
          <p:nvPr/>
        </p:nvSpPr>
        <p:spPr>
          <a:xfrm>
            <a:off x="1152981" y="4667844"/>
            <a:ext cx="4949429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600"/>
              </a:lnSpc>
              <a:buSzPct val="100000"/>
              <a:buChar char="•"/>
              <a:defRPr b="1"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img/</a:t>
            </a:r>
            <a:r>
              <a:rPr b="0"/>
              <a:t>: Директория для всех графических материалов и визуализаций.</a:t>
            </a:r>
          </a:p>
        </p:txBody>
      </p:sp>
      <p:sp>
        <p:nvSpPr>
          <p:cNvPr id="325" name="Text 5"/>
          <p:cNvSpPr txBox="1"/>
          <p:nvPr/>
        </p:nvSpPr>
        <p:spPr>
          <a:xfrm>
            <a:off x="1152981" y="5419130"/>
            <a:ext cx="4949429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600"/>
              </a:lnSpc>
              <a:buSzPct val="100000"/>
              <a:buChar char="•"/>
              <a:defRPr b="1" sz="16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README.md</a:t>
            </a:r>
            <a:r>
              <a:rPr b="0"/>
              <a:t>: Подробный отчет о проекте и его использовании.</a:t>
            </a:r>
          </a:p>
        </p:txBody>
      </p:sp>
      <p:sp>
        <p:nvSpPr>
          <p:cNvPr id="326" name="Shape 7"/>
          <p:cNvSpPr/>
          <p:nvPr/>
        </p:nvSpPr>
        <p:spPr>
          <a:xfrm>
            <a:off x="569932" y="6408539"/>
            <a:ext cx="13484270" cy="1238132"/>
          </a:xfrm>
          <a:prstGeom prst="roundRect">
            <a:avLst>
              <a:gd name="adj" fmla="val 2565"/>
            </a:avLst>
          </a:prstGeom>
          <a:solidFill>
            <a:srgbClr val="E2D9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0"/>
          <p:cNvSpPr txBox="1"/>
          <p:nvPr/>
        </p:nvSpPr>
        <p:spPr>
          <a:xfrm>
            <a:off x="2981737" y="1527236"/>
            <a:ext cx="5582817" cy="31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b="1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Сбор Данных: Техническая Реализация Парсера</a:t>
            </a:r>
          </a:p>
        </p:txBody>
      </p:sp>
      <p:sp>
        <p:nvSpPr>
          <p:cNvPr id="329" name="Text 1"/>
          <p:cNvSpPr txBox="1"/>
          <p:nvPr/>
        </p:nvSpPr>
        <p:spPr>
          <a:xfrm>
            <a:off x="3154518" y="2302302"/>
            <a:ext cx="4957644" cy="824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Исходный набор данных был сформирован путем автоматизированного сбора (парсинга) общедоступной информации с платформы Яндекс Карты.</a:t>
            </a:r>
          </a:p>
        </p:txBody>
      </p:sp>
      <p:sp>
        <p:nvSpPr>
          <p:cNvPr id="330" name="Text 2"/>
          <p:cNvSpPr txBox="1"/>
          <p:nvPr/>
        </p:nvSpPr>
        <p:spPr>
          <a:xfrm>
            <a:off x="2958722" y="4233711"/>
            <a:ext cx="1810135" cy="215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b="1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Язык:</a:t>
            </a:r>
            <a:r>
              <a:rPr b="0"/>
              <a:t> Python</a:t>
            </a:r>
          </a:p>
        </p:txBody>
      </p:sp>
      <p:sp>
        <p:nvSpPr>
          <p:cNvPr id="331" name="Text 3"/>
          <p:cNvSpPr txBox="1"/>
          <p:nvPr/>
        </p:nvSpPr>
        <p:spPr>
          <a:xfrm>
            <a:off x="2955194" y="4749881"/>
            <a:ext cx="6320967" cy="215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342900" indent="-342900">
              <a:lnSpc>
                <a:spcPts val="1600"/>
              </a:lnSpc>
              <a:buSzPct val="100000"/>
              <a:buChar char="•"/>
              <a:defRPr b="1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Библиотека:</a:t>
            </a:r>
            <a:r>
              <a:rPr b="0"/>
              <a:t> Playwright (для автоматизации браузера)</a:t>
            </a:r>
          </a:p>
        </p:txBody>
      </p:sp>
      <p:sp>
        <p:nvSpPr>
          <p:cNvPr id="332" name="Text 23"/>
          <p:cNvSpPr txBox="1"/>
          <p:nvPr/>
        </p:nvSpPr>
        <p:spPr>
          <a:xfrm>
            <a:off x="3547940" y="10091805"/>
            <a:ext cx="139837" cy="204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33" name="Text 25"/>
          <p:cNvSpPr txBox="1"/>
          <p:nvPr/>
        </p:nvSpPr>
        <p:spPr>
          <a:xfrm>
            <a:off x="4050741" y="10239204"/>
            <a:ext cx="2418570" cy="191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Сохранение в CSV с кодировкой UTF-8.</a:t>
            </a:r>
          </a:p>
        </p:txBody>
      </p:sp>
      <p:sp>
        <p:nvSpPr>
          <p:cNvPr id="334" name="Техническая реализация"/>
          <p:cNvSpPr txBox="1"/>
          <p:nvPr/>
        </p:nvSpPr>
        <p:spPr>
          <a:xfrm>
            <a:off x="2974805" y="3561834"/>
            <a:ext cx="297191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535353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Техническая реализация</a:t>
            </a:r>
          </a:p>
        </p:txBody>
      </p:sp>
      <p:sp>
        <p:nvSpPr>
          <p:cNvPr id="335" name="Text 4"/>
          <p:cNvSpPr txBox="1"/>
          <p:nvPr/>
        </p:nvSpPr>
        <p:spPr>
          <a:xfrm>
            <a:off x="3154518" y="5555520"/>
            <a:ext cx="4957644" cy="8247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Данный подход позволяет корректно обрабатывать динамический контент, подгружаемый через JavaScript, обеспечивая полное извлечение отзывов.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6"/>
          <p:cNvSpPr/>
          <p:nvPr/>
        </p:nvSpPr>
        <p:spPr>
          <a:xfrm>
            <a:off x="3074789" y="2312662"/>
            <a:ext cx="536259" cy="80450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7"/>
          <p:cNvSpPr txBox="1"/>
          <p:nvPr/>
        </p:nvSpPr>
        <p:spPr>
          <a:xfrm>
            <a:off x="3242309" y="2589244"/>
            <a:ext cx="139838" cy="204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9" name="Text 8"/>
          <p:cNvSpPr txBox="1"/>
          <p:nvPr/>
        </p:nvSpPr>
        <p:spPr>
          <a:xfrm>
            <a:off x="3784975" y="2451793"/>
            <a:ext cx="1726866" cy="21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Инициализация</a:t>
            </a:r>
          </a:p>
        </p:txBody>
      </p:sp>
      <p:sp>
        <p:nvSpPr>
          <p:cNvPr id="340" name="Text 9"/>
          <p:cNvSpPr txBox="1"/>
          <p:nvPr/>
        </p:nvSpPr>
        <p:spPr>
          <a:xfrm>
            <a:off x="3745110" y="2736643"/>
            <a:ext cx="2216908" cy="191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Запуск браузера в headless-режиме.</a:t>
            </a:r>
          </a:p>
        </p:txBody>
      </p:sp>
      <p:sp>
        <p:nvSpPr>
          <p:cNvPr id="341" name="Shape 10"/>
          <p:cNvSpPr/>
          <p:nvPr/>
        </p:nvSpPr>
        <p:spPr>
          <a:xfrm>
            <a:off x="3074789" y="3251231"/>
            <a:ext cx="536259" cy="80450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11"/>
          <p:cNvSpPr txBox="1"/>
          <p:nvPr/>
        </p:nvSpPr>
        <p:spPr>
          <a:xfrm>
            <a:off x="3242309" y="3527814"/>
            <a:ext cx="139838" cy="204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3" name="Text 12"/>
          <p:cNvSpPr txBox="1"/>
          <p:nvPr/>
        </p:nvSpPr>
        <p:spPr>
          <a:xfrm>
            <a:off x="3745110" y="3385297"/>
            <a:ext cx="1174231" cy="21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Навигация</a:t>
            </a:r>
          </a:p>
        </p:txBody>
      </p:sp>
      <p:sp>
        <p:nvSpPr>
          <p:cNvPr id="344" name="Text 13"/>
          <p:cNvSpPr txBox="1"/>
          <p:nvPr/>
        </p:nvSpPr>
        <p:spPr>
          <a:xfrm>
            <a:off x="3745110" y="3744107"/>
            <a:ext cx="2655827" cy="191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Переход на страницу отзывов организации.</a:t>
            </a:r>
          </a:p>
        </p:txBody>
      </p:sp>
      <p:sp>
        <p:nvSpPr>
          <p:cNvPr id="345" name="Shape 14"/>
          <p:cNvSpPr/>
          <p:nvPr/>
        </p:nvSpPr>
        <p:spPr>
          <a:xfrm>
            <a:off x="3074789" y="4189801"/>
            <a:ext cx="536259" cy="80450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15"/>
          <p:cNvSpPr txBox="1"/>
          <p:nvPr/>
        </p:nvSpPr>
        <p:spPr>
          <a:xfrm>
            <a:off x="3242309" y="4466383"/>
            <a:ext cx="139838" cy="204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7" name="Text 16"/>
          <p:cNvSpPr txBox="1"/>
          <p:nvPr/>
        </p:nvSpPr>
        <p:spPr>
          <a:xfrm>
            <a:off x="3745110" y="4323866"/>
            <a:ext cx="2633230" cy="21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Бесконечная Прокрутка</a:t>
            </a:r>
          </a:p>
        </p:txBody>
      </p:sp>
      <p:sp>
        <p:nvSpPr>
          <p:cNvPr id="348" name="Text 17"/>
          <p:cNvSpPr txBox="1"/>
          <p:nvPr/>
        </p:nvSpPr>
        <p:spPr>
          <a:xfrm>
            <a:off x="3745110" y="4613784"/>
            <a:ext cx="2961979" cy="191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Эмуляция прокрутки для загрузки всех отзывов.</a:t>
            </a:r>
          </a:p>
        </p:txBody>
      </p:sp>
      <p:sp>
        <p:nvSpPr>
          <p:cNvPr id="349" name="Shape 18"/>
          <p:cNvSpPr/>
          <p:nvPr/>
        </p:nvSpPr>
        <p:spPr>
          <a:xfrm>
            <a:off x="3074789" y="5128372"/>
            <a:ext cx="536259" cy="80450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19"/>
          <p:cNvSpPr txBox="1"/>
          <p:nvPr/>
        </p:nvSpPr>
        <p:spPr>
          <a:xfrm>
            <a:off x="3242309" y="5404953"/>
            <a:ext cx="139838" cy="204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1" name="Text 20"/>
          <p:cNvSpPr txBox="1"/>
          <p:nvPr/>
        </p:nvSpPr>
        <p:spPr>
          <a:xfrm>
            <a:off x="3745110" y="5262436"/>
            <a:ext cx="2198131" cy="21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Извлечение Данных</a:t>
            </a:r>
          </a:p>
        </p:txBody>
      </p:sp>
      <p:sp>
        <p:nvSpPr>
          <p:cNvPr id="352" name="Text 21"/>
          <p:cNvSpPr txBox="1"/>
          <p:nvPr/>
        </p:nvSpPr>
        <p:spPr>
          <a:xfrm>
            <a:off x="3745110" y="5552353"/>
            <a:ext cx="2917330" cy="191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Парсинг автора, даты, рейтинга, текста отзыва.</a:t>
            </a:r>
          </a:p>
        </p:txBody>
      </p:sp>
      <p:sp>
        <p:nvSpPr>
          <p:cNvPr id="353" name="Shape 22"/>
          <p:cNvSpPr/>
          <p:nvPr/>
        </p:nvSpPr>
        <p:spPr>
          <a:xfrm>
            <a:off x="3074789" y="6066941"/>
            <a:ext cx="536259" cy="80450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24"/>
          <p:cNvSpPr txBox="1"/>
          <p:nvPr/>
        </p:nvSpPr>
        <p:spPr>
          <a:xfrm>
            <a:off x="3745110" y="6201005"/>
            <a:ext cx="913037" cy="2151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Экспорт</a:t>
            </a:r>
          </a:p>
        </p:txBody>
      </p:sp>
      <p:sp>
        <p:nvSpPr>
          <p:cNvPr id="355" name="Алгоритм работы парсера:"/>
          <p:cNvSpPr txBox="1"/>
          <p:nvPr/>
        </p:nvSpPr>
        <p:spPr>
          <a:xfrm>
            <a:off x="3024250" y="1562807"/>
            <a:ext cx="353649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Алгоритм работы парсера:</a:t>
            </a:r>
          </a:p>
        </p:txBody>
      </p:sp>
      <p:sp>
        <p:nvSpPr>
          <p:cNvPr id="356" name="5"/>
          <p:cNvSpPr txBox="1"/>
          <p:nvPr/>
        </p:nvSpPr>
        <p:spPr>
          <a:xfrm>
            <a:off x="3206580" y="6290123"/>
            <a:ext cx="23127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9089AC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 txBox="1"/>
          <p:nvPr/>
        </p:nvSpPr>
        <p:spPr>
          <a:xfrm>
            <a:off x="7324517" y="860630"/>
            <a:ext cx="6484045" cy="440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300"/>
              </a:lnSpc>
              <a:defRPr b="1" sz="36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Процесс Обработки Данных</a:t>
            </a:r>
          </a:p>
        </p:txBody>
      </p:sp>
      <p:pic>
        <p:nvPicPr>
          <p:cNvPr id="3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9466" y="1178938"/>
            <a:ext cx="513875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ext 1"/>
          <p:cNvSpPr txBox="1"/>
          <p:nvPr/>
        </p:nvSpPr>
        <p:spPr>
          <a:xfrm>
            <a:off x="1841500" y="1146552"/>
            <a:ext cx="3658097" cy="28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b="1"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Предобработка Данных</a:t>
            </a:r>
          </a:p>
        </p:txBody>
      </p:sp>
      <p:sp>
        <p:nvSpPr>
          <p:cNvPr id="361" name="Text 2"/>
          <p:cNvSpPr txBox="1"/>
          <p:nvPr/>
        </p:nvSpPr>
        <p:spPr>
          <a:xfrm>
            <a:off x="1852015" y="1516955"/>
            <a:ext cx="3718670" cy="28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Парсинг дат в datetime.</a:t>
            </a:r>
          </a:p>
        </p:txBody>
      </p:sp>
      <p:sp>
        <p:nvSpPr>
          <p:cNvPr id="362" name="Text 3"/>
          <p:cNvSpPr txBox="1"/>
          <p:nvPr/>
        </p:nvSpPr>
        <p:spPr>
          <a:xfrm>
            <a:off x="1852015" y="1850926"/>
            <a:ext cx="7209881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Определение сезона (Зима/Весна/Лето/Осень).</a:t>
            </a:r>
          </a:p>
        </p:txBody>
      </p:sp>
      <p:sp>
        <p:nvSpPr>
          <p:cNvPr id="363" name="Text 4"/>
          <p:cNvSpPr txBox="1"/>
          <p:nvPr/>
        </p:nvSpPr>
        <p:spPr>
          <a:xfrm>
            <a:off x="1852015" y="2184897"/>
            <a:ext cx="6078638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Очистка от пустых строк и дубликатов.</a:t>
            </a:r>
          </a:p>
        </p:txBody>
      </p:sp>
      <p:pic>
        <p:nvPicPr>
          <p:cNvPr id="364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9466" y="2821892"/>
            <a:ext cx="513875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Text 5"/>
          <p:cNvSpPr txBox="1"/>
          <p:nvPr/>
        </p:nvSpPr>
        <p:spPr>
          <a:xfrm>
            <a:off x="1841500" y="2926547"/>
            <a:ext cx="622300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b="1"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NLP</a:t>
            </a:r>
          </a:p>
        </p:txBody>
      </p:sp>
      <p:sp>
        <p:nvSpPr>
          <p:cNvPr id="366" name="Text 6"/>
          <p:cNvSpPr txBox="1"/>
          <p:nvPr/>
        </p:nvSpPr>
        <p:spPr>
          <a:xfrm>
            <a:off x="1897498" y="3296951"/>
            <a:ext cx="3371603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Токенизация текста.</a:t>
            </a:r>
          </a:p>
        </p:txBody>
      </p:sp>
      <p:sp>
        <p:nvSpPr>
          <p:cNvPr id="367" name="Text 7"/>
          <p:cNvSpPr txBox="1"/>
          <p:nvPr/>
        </p:nvSpPr>
        <p:spPr>
          <a:xfrm>
            <a:off x="1897498" y="3630922"/>
            <a:ext cx="4398220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Лемматизация с pymorphy2.</a:t>
            </a:r>
          </a:p>
        </p:txBody>
      </p:sp>
      <p:sp>
        <p:nvSpPr>
          <p:cNvPr id="368" name="Text 8"/>
          <p:cNvSpPr txBox="1"/>
          <p:nvPr/>
        </p:nvSpPr>
        <p:spPr>
          <a:xfrm>
            <a:off x="1897498" y="3964892"/>
            <a:ext cx="5077025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Фильтрация стоп-слов и мусора.</a:t>
            </a:r>
          </a:p>
        </p:txBody>
      </p:sp>
      <p:sp>
        <p:nvSpPr>
          <p:cNvPr id="369" name="Text 9"/>
          <p:cNvSpPr txBox="1"/>
          <p:nvPr/>
        </p:nvSpPr>
        <p:spPr>
          <a:xfrm>
            <a:off x="1841500" y="4431936"/>
            <a:ext cx="2298849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b="1"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Категоризация</a:t>
            </a:r>
          </a:p>
        </p:txBody>
      </p:sp>
      <p:sp>
        <p:nvSpPr>
          <p:cNvPr id="370" name="Text 10"/>
          <p:cNvSpPr txBox="1"/>
          <p:nvPr/>
        </p:nvSpPr>
        <p:spPr>
          <a:xfrm>
            <a:off x="1898986" y="4861707"/>
            <a:ext cx="4395243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Выделение 4 ключевых тем</a:t>
            </a:r>
          </a:p>
        </p:txBody>
      </p:sp>
      <p:sp>
        <p:nvSpPr>
          <p:cNvPr id="371" name="Text 11"/>
          <p:cNvSpPr txBox="1"/>
          <p:nvPr/>
        </p:nvSpPr>
        <p:spPr>
          <a:xfrm>
            <a:off x="1841500" y="5937324"/>
            <a:ext cx="2175917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b="1"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Визуализация</a:t>
            </a:r>
          </a:p>
        </p:txBody>
      </p:sp>
      <p:sp>
        <p:nvSpPr>
          <p:cNvPr id="372" name="Text 12"/>
          <p:cNvSpPr txBox="1"/>
          <p:nvPr/>
        </p:nvSpPr>
        <p:spPr>
          <a:xfrm>
            <a:off x="1905000" y="6372863"/>
            <a:ext cx="6377335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Подготовка данных для Yandex DataLens.</a:t>
            </a:r>
          </a:p>
        </p:txBody>
      </p:sp>
      <p:sp>
        <p:nvSpPr>
          <p:cNvPr id="373" name="Text 13"/>
          <p:cNvSpPr txBox="1"/>
          <p:nvPr/>
        </p:nvSpPr>
        <p:spPr>
          <a:xfrm>
            <a:off x="1905000" y="6678975"/>
            <a:ext cx="6087418" cy="28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Построение интерактивного дашборда.</a:t>
            </a:r>
          </a:p>
        </p:txBody>
      </p:sp>
      <p:pic>
        <p:nvPicPr>
          <p:cNvPr id="374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9466" y="4431936"/>
            <a:ext cx="513875" cy="1143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9466" y="5995549"/>
            <a:ext cx="513875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(Доставка/Заказ, Цена/Выгода, Лекарства/Наличие, Сервис/Общение)."/>
          <p:cNvSpPr txBox="1"/>
          <p:nvPr/>
        </p:nvSpPr>
        <p:spPr>
          <a:xfrm>
            <a:off x="1866900" y="5232949"/>
            <a:ext cx="10776457" cy="37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marL="342900" indent="-342900">
              <a:lnSpc>
                <a:spcPts val="2100"/>
              </a:lnSpc>
              <a:buSzPct val="100000"/>
              <a:buChar char="•"/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(Доставка/Заказ, Цена/Выгода, Лекарства/Наличие, Сервис/Общение).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Рисунок 21" descr="Рисунок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74880" y="733792"/>
            <a:ext cx="4280641" cy="67620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 0"/>
          <p:cNvSpPr txBox="1"/>
          <p:nvPr/>
        </p:nvSpPr>
        <p:spPr>
          <a:xfrm>
            <a:off x="1234083" y="686157"/>
            <a:ext cx="6790333" cy="463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700"/>
              </a:lnSpc>
              <a:defRPr b="1" sz="30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Реализованные Структуры Данных</a:t>
            </a:r>
          </a:p>
        </p:txBody>
      </p:sp>
      <p:sp>
        <p:nvSpPr>
          <p:cNvPr id="381" name="Text 1"/>
          <p:cNvSpPr txBox="1"/>
          <p:nvPr/>
        </p:nvSpPr>
        <p:spPr>
          <a:xfrm>
            <a:off x="1234142" y="1370023"/>
            <a:ext cx="12162116" cy="92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В ходе работы были спроектированы и реализованы специальные структуры данных для хранения и агрегации текстовой информации, сохраняемые в виде CSV/JSON.</a:t>
            </a:r>
          </a:p>
        </p:txBody>
      </p:sp>
      <p:sp>
        <p:nvSpPr>
          <p:cNvPr id="382" name="Shape 2"/>
          <p:cNvSpPr/>
          <p:nvPr/>
        </p:nvSpPr>
        <p:spPr>
          <a:xfrm>
            <a:off x="1234083" y="2382916"/>
            <a:ext cx="5984917" cy="2484122"/>
          </a:xfrm>
          <a:prstGeom prst="roundRect">
            <a:avLst>
              <a:gd name="adj" fmla="val 1161"/>
            </a:avLst>
          </a:prstGeom>
          <a:solidFill>
            <a:srgbClr val="F9F6F0"/>
          </a:solidFill>
          <a:ln w="22860">
            <a:solidFill>
              <a:srgbClr val="D4CEC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3" name="Shape 3"/>
          <p:cNvSpPr/>
          <p:nvPr/>
        </p:nvSpPr>
        <p:spPr>
          <a:xfrm>
            <a:off x="1256943" y="2405776"/>
            <a:ext cx="5939195" cy="576859"/>
          </a:xfrm>
          <a:prstGeom prst="roundRect">
            <a:avLst>
              <a:gd name="adj" fmla="val 245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4"/>
          <p:cNvSpPr txBox="1"/>
          <p:nvPr/>
        </p:nvSpPr>
        <p:spPr>
          <a:xfrm>
            <a:off x="4082296" y="2513886"/>
            <a:ext cx="182216" cy="293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85" name="Text 5"/>
          <p:cNvSpPr txBox="1"/>
          <p:nvPr/>
        </p:nvSpPr>
        <p:spPr>
          <a:xfrm>
            <a:off x="1423828" y="3098796"/>
            <a:ext cx="3277097" cy="303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Обогащенная Таблица</a:t>
            </a:r>
          </a:p>
        </p:txBody>
      </p:sp>
      <p:sp>
        <p:nvSpPr>
          <p:cNvPr id="386" name="Text 6"/>
          <p:cNvSpPr txBox="1"/>
          <p:nvPr/>
        </p:nvSpPr>
        <p:spPr>
          <a:xfrm>
            <a:off x="1396092" y="3500630"/>
            <a:ext cx="5554624" cy="920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400"/>
              </a:lnSpc>
              <a:defRPr sz="23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Основная база данных, каждая строка — уникальный отзыв. Содержит </a:t>
            </a:r>
            <a:r>
              <a:rPr b="1"/>
              <a:t>date_clean</a:t>
            </a:r>
            <a:r>
              <a:t>, </a:t>
            </a:r>
            <a:r>
              <a:rPr b="1"/>
              <a:t>season</a:t>
            </a:r>
            <a:r>
              <a:t>, </a:t>
            </a:r>
            <a:r>
              <a:rPr b="1"/>
              <a:t>lemmas</a:t>
            </a:r>
            <a:r>
              <a:t>.</a:t>
            </a:r>
          </a:p>
        </p:txBody>
      </p:sp>
      <p:sp>
        <p:nvSpPr>
          <p:cNvPr id="387" name="Text 7"/>
          <p:cNvSpPr txBox="1"/>
          <p:nvPr/>
        </p:nvSpPr>
        <p:spPr>
          <a:xfrm>
            <a:off x="1409367" y="4471690"/>
            <a:ext cx="5195145" cy="306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>
                <a:solidFill>
                  <a:srgbClr val="74655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BD/data/1_reviews_full_cleaned.csv</a:t>
            </a:r>
          </a:p>
        </p:txBody>
      </p:sp>
      <p:sp>
        <p:nvSpPr>
          <p:cNvPr id="388" name="Shape 8"/>
          <p:cNvSpPr/>
          <p:nvPr/>
        </p:nvSpPr>
        <p:spPr>
          <a:xfrm>
            <a:off x="7411283" y="2382916"/>
            <a:ext cx="5984916" cy="2484122"/>
          </a:xfrm>
          <a:prstGeom prst="roundRect">
            <a:avLst>
              <a:gd name="adj" fmla="val 1161"/>
            </a:avLst>
          </a:prstGeom>
          <a:solidFill>
            <a:srgbClr val="F9F6F0"/>
          </a:solidFill>
          <a:ln w="22860">
            <a:solidFill>
              <a:srgbClr val="D4CEC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Shape 9"/>
          <p:cNvSpPr/>
          <p:nvPr/>
        </p:nvSpPr>
        <p:spPr>
          <a:xfrm>
            <a:off x="7434143" y="2405776"/>
            <a:ext cx="5939195" cy="576859"/>
          </a:xfrm>
          <a:prstGeom prst="roundRect">
            <a:avLst>
              <a:gd name="adj" fmla="val 245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10"/>
          <p:cNvSpPr txBox="1"/>
          <p:nvPr/>
        </p:nvSpPr>
        <p:spPr>
          <a:xfrm>
            <a:off x="10259497" y="2513886"/>
            <a:ext cx="182216" cy="293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1" name="Text 11"/>
          <p:cNvSpPr txBox="1"/>
          <p:nvPr/>
        </p:nvSpPr>
        <p:spPr>
          <a:xfrm>
            <a:off x="7626429" y="3098796"/>
            <a:ext cx="2899817" cy="303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Частотные Словари</a:t>
            </a:r>
          </a:p>
        </p:txBody>
      </p:sp>
      <p:sp>
        <p:nvSpPr>
          <p:cNvPr id="392" name="Text 12"/>
          <p:cNvSpPr txBox="1"/>
          <p:nvPr/>
        </p:nvSpPr>
        <p:spPr>
          <a:xfrm>
            <a:off x="7626429" y="3499170"/>
            <a:ext cx="5554624" cy="92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400"/>
              </a:lnSpc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Три базы данных (</a:t>
            </a:r>
            <a:r>
              <a:rPr b="1"/>
              <a:t>общая</a:t>
            </a:r>
            <a:r>
              <a:t>, </a:t>
            </a:r>
            <a:r>
              <a:rPr b="1"/>
              <a:t>позитивная</a:t>
            </a:r>
            <a:r>
              <a:t>, </a:t>
            </a:r>
            <a:r>
              <a:rPr b="1"/>
              <a:t>негативная</a:t>
            </a:r>
            <a:r>
              <a:t>) для быстрого анализа топов слов.</a:t>
            </a:r>
          </a:p>
        </p:txBody>
      </p:sp>
      <p:sp>
        <p:nvSpPr>
          <p:cNvPr id="393" name="Text 13"/>
          <p:cNvSpPr txBox="1"/>
          <p:nvPr/>
        </p:nvSpPr>
        <p:spPr>
          <a:xfrm>
            <a:off x="7626429" y="4465439"/>
            <a:ext cx="3396531" cy="31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746558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BD/dictionaries</a:t>
            </a:r>
            <a:r>
              <a:rPr sz="2400"/>
              <a:t>/*.csv</a:t>
            </a:r>
          </a:p>
        </p:txBody>
      </p:sp>
      <p:sp>
        <p:nvSpPr>
          <p:cNvPr id="394" name="Shape 14"/>
          <p:cNvSpPr/>
          <p:nvPr/>
        </p:nvSpPr>
        <p:spPr>
          <a:xfrm>
            <a:off x="1234021" y="5082182"/>
            <a:ext cx="5984916" cy="2412829"/>
          </a:xfrm>
          <a:prstGeom prst="roundRect">
            <a:avLst>
              <a:gd name="adj" fmla="val 1161"/>
            </a:avLst>
          </a:prstGeom>
          <a:solidFill>
            <a:srgbClr val="F9F6F0"/>
          </a:solidFill>
          <a:ln w="22860">
            <a:solidFill>
              <a:srgbClr val="D4CEC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Shape 15"/>
          <p:cNvSpPr/>
          <p:nvPr/>
        </p:nvSpPr>
        <p:spPr>
          <a:xfrm>
            <a:off x="1256943" y="5082182"/>
            <a:ext cx="5939195" cy="576859"/>
          </a:xfrm>
          <a:prstGeom prst="roundRect">
            <a:avLst>
              <a:gd name="adj" fmla="val 245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16"/>
          <p:cNvSpPr txBox="1"/>
          <p:nvPr/>
        </p:nvSpPr>
        <p:spPr>
          <a:xfrm>
            <a:off x="4082296" y="5190292"/>
            <a:ext cx="182216" cy="293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7" name="Text 17"/>
          <p:cNvSpPr txBox="1"/>
          <p:nvPr/>
        </p:nvSpPr>
        <p:spPr>
          <a:xfrm>
            <a:off x="1449228" y="5851326"/>
            <a:ext cx="3993556" cy="303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Тематическая База Знаний</a:t>
            </a:r>
          </a:p>
        </p:txBody>
      </p:sp>
      <p:sp>
        <p:nvSpPr>
          <p:cNvPr id="398" name="Text 18"/>
          <p:cNvSpPr txBox="1"/>
          <p:nvPr/>
        </p:nvSpPr>
        <p:spPr>
          <a:xfrm>
            <a:off x="1449228" y="6267093"/>
            <a:ext cx="5554624" cy="61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JSON-объект, сопоставляющий темы со списками ключевых слов.</a:t>
            </a:r>
          </a:p>
        </p:txBody>
      </p:sp>
      <p:sp>
        <p:nvSpPr>
          <p:cNvPr id="399" name="Text 19"/>
          <p:cNvSpPr txBox="1"/>
          <p:nvPr/>
        </p:nvSpPr>
        <p:spPr>
          <a:xfrm>
            <a:off x="1256943" y="7119066"/>
            <a:ext cx="5499994" cy="306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>
                <a:solidFill>
                  <a:srgbClr val="74655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BD/dictionaries/5_topics_config.json</a:t>
            </a:r>
          </a:p>
        </p:txBody>
      </p:sp>
      <p:sp>
        <p:nvSpPr>
          <p:cNvPr id="400" name="Shape 20"/>
          <p:cNvSpPr/>
          <p:nvPr/>
        </p:nvSpPr>
        <p:spPr>
          <a:xfrm>
            <a:off x="7411283" y="5059322"/>
            <a:ext cx="5984916" cy="2435689"/>
          </a:xfrm>
          <a:prstGeom prst="roundRect">
            <a:avLst>
              <a:gd name="adj" fmla="val 1161"/>
            </a:avLst>
          </a:prstGeom>
          <a:solidFill>
            <a:srgbClr val="F9F6F0"/>
          </a:solidFill>
          <a:ln w="22860">
            <a:solidFill>
              <a:srgbClr val="D4CEC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Shape 21"/>
          <p:cNvSpPr/>
          <p:nvPr/>
        </p:nvSpPr>
        <p:spPr>
          <a:xfrm>
            <a:off x="7434143" y="5082182"/>
            <a:ext cx="5939195" cy="576859"/>
          </a:xfrm>
          <a:prstGeom prst="roundRect">
            <a:avLst>
              <a:gd name="adj" fmla="val 245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Text 22"/>
          <p:cNvSpPr txBox="1"/>
          <p:nvPr/>
        </p:nvSpPr>
        <p:spPr>
          <a:xfrm>
            <a:off x="10259497" y="5190292"/>
            <a:ext cx="182216" cy="293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03" name="Text 23"/>
          <p:cNvSpPr txBox="1"/>
          <p:nvPr/>
        </p:nvSpPr>
        <p:spPr>
          <a:xfrm>
            <a:off x="7626429" y="5851326"/>
            <a:ext cx="3852466" cy="303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Денормализованный Слой</a:t>
            </a:r>
          </a:p>
        </p:txBody>
      </p:sp>
      <p:sp>
        <p:nvSpPr>
          <p:cNvPr id="404" name="Text 24"/>
          <p:cNvSpPr txBox="1"/>
          <p:nvPr/>
        </p:nvSpPr>
        <p:spPr>
          <a:xfrm>
            <a:off x="7626429" y="6267093"/>
            <a:ext cx="5554624" cy="923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Специализированная структура для Yandex DataLens, формат "одна строка — одно слово".</a:t>
            </a:r>
          </a:p>
        </p:txBody>
      </p:sp>
      <p:sp>
        <p:nvSpPr>
          <p:cNvPr id="405" name="Text 25"/>
          <p:cNvSpPr txBox="1"/>
          <p:nvPr/>
        </p:nvSpPr>
        <p:spPr>
          <a:xfrm>
            <a:off x="7626369" y="7164493"/>
            <a:ext cx="3975746" cy="306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000">
                <a:solidFill>
                  <a:srgbClr val="746558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BD/data/datalens_ready.csv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 txBox="1"/>
          <p:nvPr/>
        </p:nvSpPr>
        <p:spPr>
          <a:xfrm>
            <a:off x="888642" y="657638"/>
            <a:ext cx="12060430" cy="54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sz="35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Результаты Анализа: Частотный Анализ Ключевых Слов</a:t>
            </a:r>
          </a:p>
        </p:txBody>
      </p:sp>
      <p:sp>
        <p:nvSpPr>
          <p:cNvPr id="408" name="Shape 1"/>
          <p:cNvSpPr/>
          <p:nvPr/>
        </p:nvSpPr>
        <p:spPr>
          <a:xfrm>
            <a:off x="793790" y="1293890"/>
            <a:ext cx="5157990" cy="2202725"/>
          </a:xfrm>
          <a:prstGeom prst="roundRect">
            <a:avLst>
              <a:gd name="adj" fmla="val 1933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9" name="Text 2"/>
          <p:cNvSpPr txBox="1"/>
          <p:nvPr/>
        </p:nvSpPr>
        <p:spPr>
          <a:xfrm>
            <a:off x="888641" y="1362386"/>
            <a:ext cx="2950271" cy="344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Лидер Упоминаний</a:t>
            </a:r>
          </a:p>
        </p:txBody>
      </p:sp>
      <p:sp>
        <p:nvSpPr>
          <p:cNvPr id="410" name="Text 3"/>
          <p:cNvSpPr txBox="1"/>
          <p:nvPr/>
        </p:nvSpPr>
        <p:spPr>
          <a:xfrm>
            <a:off x="888641" y="1943530"/>
            <a:ext cx="4948756" cy="1054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20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Слово </a:t>
            </a:r>
            <a:r>
              <a:rPr b="1"/>
              <a:t>"заказ"</a:t>
            </a:r>
            <a:r>
              <a:t> встречается чаще всего (более 300 раз), за ним следуют "лекарство", "доставка" и "цена".</a:t>
            </a:r>
          </a:p>
        </p:txBody>
      </p:sp>
      <p:sp>
        <p:nvSpPr>
          <p:cNvPr id="411" name="Shape 4"/>
          <p:cNvSpPr/>
          <p:nvPr/>
        </p:nvSpPr>
        <p:spPr>
          <a:xfrm>
            <a:off x="793790" y="4545567"/>
            <a:ext cx="5252842" cy="2834027"/>
          </a:xfrm>
          <a:prstGeom prst="roundRect">
            <a:avLst>
              <a:gd name="adj" fmla="val 6247"/>
            </a:avLst>
          </a:prstGeom>
          <a:solidFill>
            <a:srgbClr val="EEE8D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5"/>
          <p:cNvSpPr txBox="1"/>
          <p:nvPr/>
        </p:nvSpPr>
        <p:spPr>
          <a:xfrm>
            <a:off x="1020603" y="4579653"/>
            <a:ext cx="2807842" cy="344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4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Смещение Фокуса</a:t>
            </a:r>
          </a:p>
        </p:txBody>
      </p:sp>
      <p:sp>
        <p:nvSpPr>
          <p:cNvPr id="413" name="Text 6"/>
          <p:cNvSpPr txBox="1"/>
          <p:nvPr/>
        </p:nvSpPr>
        <p:spPr>
          <a:xfrm>
            <a:off x="888641" y="4999196"/>
            <a:ext cx="5080718" cy="1765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20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Аптека воспринимается как </a:t>
            </a:r>
            <a:r>
              <a:rPr b="1"/>
              <a:t>сервис доставки</a:t>
            </a:r>
            <a:r>
              <a:t>. Лексика онлайн-коммерции ("сайт", "приложение", "курьер") доминирует над традиционной ("зал", "чистота", "фармацевт").</a:t>
            </a:r>
          </a:p>
        </p:txBody>
      </p:sp>
      <p:pic>
        <p:nvPicPr>
          <p:cNvPr id="414" name="Рисунок 10" descr="Рисунок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12765" y="1224614"/>
            <a:ext cx="4906255" cy="2931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" name="Рисунок 11" descr="Рисунок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12766" y="4155973"/>
            <a:ext cx="4906255" cy="32158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0"/>
          <p:cNvSpPr txBox="1"/>
          <p:nvPr/>
        </p:nvSpPr>
        <p:spPr>
          <a:xfrm>
            <a:off x="1064246" y="682052"/>
            <a:ext cx="8777091" cy="540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b="1" sz="3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Сравнение Позитива и Негатива в Отзывах</a:t>
            </a:r>
          </a:p>
        </p:txBody>
      </p:sp>
      <p:sp>
        <p:nvSpPr>
          <p:cNvPr id="418" name="Text 1"/>
          <p:cNvSpPr txBox="1"/>
          <p:nvPr/>
        </p:nvSpPr>
        <p:spPr>
          <a:xfrm>
            <a:off x="1064246" y="1435427"/>
            <a:ext cx="4266358" cy="34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Драйверы Негатива (Синие)</a:t>
            </a:r>
          </a:p>
        </p:txBody>
      </p:sp>
      <p:sp>
        <p:nvSpPr>
          <p:cNvPr id="419" name="Text 2"/>
          <p:cNvSpPr txBox="1"/>
          <p:nvPr/>
        </p:nvSpPr>
        <p:spPr>
          <a:xfrm>
            <a:off x="1064246" y="1907751"/>
            <a:ext cx="6244711" cy="142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Основные жалобы связаны со словами "</a:t>
            </a:r>
            <a:r>
              <a:rPr b="1"/>
              <a:t>заказ</a:t>
            </a:r>
            <a:r>
              <a:t>", "</a:t>
            </a:r>
            <a:r>
              <a:rPr b="1"/>
              <a:t>доставка</a:t>
            </a:r>
            <a:r>
              <a:t>", "</a:t>
            </a:r>
            <a:r>
              <a:rPr b="1"/>
              <a:t>курьер</a:t>
            </a:r>
            <a:r>
              <a:t>". Пользователи недовольны срывами сроков и логистикой.</a:t>
            </a:r>
          </a:p>
        </p:txBody>
      </p:sp>
      <p:sp>
        <p:nvSpPr>
          <p:cNvPr id="420" name="Text 3"/>
          <p:cNvSpPr txBox="1"/>
          <p:nvPr/>
        </p:nvSpPr>
        <p:spPr>
          <a:xfrm>
            <a:off x="7702552" y="1432561"/>
            <a:ext cx="4714925" cy="34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b="1" sz="24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Драйверы Позитива (Красные)</a:t>
            </a:r>
          </a:p>
        </p:txBody>
      </p:sp>
      <p:sp>
        <p:nvSpPr>
          <p:cNvPr id="421" name="Text 4"/>
          <p:cNvSpPr txBox="1"/>
          <p:nvPr/>
        </p:nvSpPr>
        <p:spPr>
          <a:xfrm>
            <a:off x="7702552" y="1907751"/>
            <a:ext cx="6244710" cy="142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Клиенты хвалят "</a:t>
            </a:r>
            <a:r>
              <a:rPr b="1"/>
              <a:t>цену</a:t>
            </a:r>
            <a:r>
              <a:t>" и "</a:t>
            </a:r>
            <a:r>
              <a:rPr b="1"/>
              <a:t>ассортимент</a:t>
            </a:r>
            <a:r>
              <a:t>" (наличие редких лекарств). В топе позитива также слова "хороший" и "вежливый".</a:t>
            </a:r>
          </a:p>
        </p:txBody>
      </p:sp>
      <p:sp>
        <p:nvSpPr>
          <p:cNvPr id="422" name="Text 5"/>
          <p:cNvSpPr txBox="1"/>
          <p:nvPr/>
        </p:nvSpPr>
        <p:spPr>
          <a:xfrm>
            <a:off x="1064247" y="3455682"/>
            <a:ext cx="9713765" cy="71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defRPr sz="24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Слово "лекарство" встречается как в позитивном (нашли редкое), </a:t>
            </a:r>
            <a:br/>
            <a:r>
              <a:t>так и в негативном контексте (не привезли).</a:t>
            </a:r>
          </a:p>
        </p:txBody>
      </p:sp>
      <p:pic>
        <p:nvPicPr>
          <p:cNvPr id="423" name="Рисунок 7" descr="Рисунок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52935" y="3887592"/>
            <a:ext cx="5225422" cy="3483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" name="Рисунок 10" descr="Рисунок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72264" y="4180705"/>
            <a:ext cx="4857411" cy="32382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 0"/>
          <p:cNvSpPr txBox="1"/>
          <p:nvPr/>
        </p:nvSpPr>
        <p:spPr>
          <a:xfrm>
            <a:off x="793790" y="831531"/>
            <a:ext cx="11875945" cy="549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sz="35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Анализ Тематик: Выявление "Узких Горлышек" Бизнеса</a:t>
            </a:r>
          </a:p>
        </p:txBody>
      </p:sp>
      <p:sp>
        <p:nvSpPr>
          <p:cNvPr id="427" name="Text 1"/>
          <p:cNvSpPr txBox="1"/>
          <p:nvPr/>
        </p:nvSpPr>
        <p:spPr>
          <a:xfrm>
            <a:off x="2564918" y="2050732"/>
            <a:ext cx="212757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Доставка/Заказ</a:t>
            </a:r>
          </a:p>
        </p:txBody>
      </p:sp>
      <p:sp>
        <p:nvSpPr>
          <p:cNvPr id="428" name="Text 2"/>
          <p:cNvSpPr txBox="1"/>
          <p:nvPr/>
        </p:nvSpPr>
        <p:spPr>
          <a:xfrm>
            <a:off x="2957652" y="2541151"/>
            <a:ext cx="1734840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r">
              <a:lnSpc>
                <a:spcPts val="2800"/>
              </a:lnSpc>
              <a:defRPr b="1"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55%</a:t>
            </a:r>
            <a:r>
              <a:rPr b="0"/>
              <a:t> упоминаний</a:t>
            </a:r>
          </a:p>
        </p:txBody>
      </p:sp>
      <p:sp>
        <p:nvSpPr>
          <p:cNvPr id="429" name="Text 3"/>
          <p:cNvSpPr txBox="1"/>
          <p:nvPr/>
        </p:nvSpPr>
        <p:spPr>
          <a:xfrm>
            <a:off x="793790" y="3040141"/>
            <a:ext cx="3898703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1700">
                <a:solidFill>
                  <a:srgbClr val="FF0000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87% негативных отзывов. Самая проблемная зона.</a:t>
            </a:r>
          </a:p>
        </p:txBody>
      </p:sp>
      <p:sp>
        <p:nvSpPr>
          <p:cNvPr id="430" name="Text 4"/>
          <p:cNvSpPr txBox="1"/>
          <p:nvPr/>
        </p:nvSpPr>
        <p:spPr>
          <a:xfrm>
            <a:off x="9937790" y="2050732"/>
            <a:ext cx="2638624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Лекарства/Наличие</a:t>
            </a:r>
          </a:p>
        </p:txBody>
      </p:sp>
      <p:sp>
        <p:nvSpPr>
          <p:cNvPr id="431" name="Text 5"/>
          <p:cNvSpPr txBox="1"/>
          <p:nvPr/>
        </p:nvSpPr>
        <p:spPr>
          <a:xfrm>
            <a:off x="9937790" y="2541151"/>
            <a:ext cx="1860923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~20% упоминаний</a:t>
            </a:r>
          </a:p>
        </p:txBody>
      </p:sp>
      <p:sp>
        <p:nvSpPr>
          <p:cNvPr id="432" name="Text 6"/>
          <p:cNvSpPr txBox="1"/>
          <p:nvPr/>
        </p:nvSpPr>
        <p:spPr>
          <a:xfrm>
            <a:off x="9937790" y="3040141"/>
            <a:ext cx="3898822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FFA500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61% негатива. Часто из-за отсутствия товаров.</a:t>
            </a:r>
          </a:p>
        </p:txBody>
      </p:sp>
      <p:sp>
        <p:nvSpPr>
          <p:cNvPr id="433" name="Text 7"/>
          <p:cNvSpPr txBox="1"/>
          <p:nvPr/>
        </p:nvSpPr>
        <p:spPr>
          <a:xfrm>
            <a:off x="9937790" y="4503301"/>
            <a:ext cx="1741761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Цена/Выгода</a:t>
            </a:r>
          </a:p>
        </p:txBody>
      </p:sp>
      <p:sp>
        <p:nvSpPr>
          <p:cNvPr id="434" name="Text 8"/>
          <p:cNvSpPr txBox="1"/>
          <p:nvPr/>
        </p:nvSpPr>
        <p:spPr>
          <a:xfrm>
            <a:off x="9937790" y="4993718"/>
            <a:ext cx="1860923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~15% упоминаний</a:t>
            </a:r>
          </a:p>
        </p:txBody>
      </p:sp>
      <p:sp>
        <p:nvSpPr>
          <p:cNvPr id="435" name="Text 9"/>
          <p:cNvSpPr txBox="1"/>
          <p:nvPr/>
        </p:nvSpPr>
        <p:spPr>
          <a:xfrm>
            <a:off x="9937790" y="5492710"/>
            <a:ext cx="3898822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008000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47% позитива. Конкурентное преимущество.</a:t>
            </a:r>
          </a:p>
        </p:txBody>
      </p:sp>
      <p:sp>
        <p:nvSpPr>
          <p:cNvPr id="436" name="Text 10"/>
          <p:cNvSpPr txBox="1"/>
          <p:nvPr/>
        </p:nvSpPr>
        <p:spPr>
          <a:xfrm>
            <a:off x="2410484" y="4503301"/>
            <a:ext cx="2282008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Сервис/Общение</a:t>
            </a:r>
          </a:p>
        </p:txBody>
      </p:sp>
      <p:sp>
        <p:nvSpPr>
          <p:cNvPr id="437" name="Text 11"/>
          <p:cNvSpPr txBox="1"/>
          <p:nvPr/>
        </p:nvSpPr>
        <p:spPr>
          <a:xfrm>
            <a:off x="2831569" y="4993718"/>
            <a:ext cx="1860923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~10% упоминаний</a:t>
            </a:r>
          </a:p>
        </p:txBody>
      </p:sp>
      <p:sp>
        <p:nvSpPr>
          <p:cNvPr id="438" name="Text 12"/>
          <p:cNvSpPr txBox="1"/>
          <p:nvPr/>
        </p:nvSpPr>
        <p:spPr>
          <a:xfrm>
            <a:off x="793790" y="5492710"/>
            <a:ext cx="3898703" cy="68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1700">
                <a:solidFill>
                  <a:srgbClr val="008000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51% позитива. Нейтрально-положительная оценка.</a:t>
            </a:r>
          </a:p>
        </p:txBody>
      </p:sp>
      <p:sp>
        <p:nvSpPr>
          <p:cNvPr id="439" name="Text 13"/>
          <p:cNvSpPr txBox="1"/>
          <p:nvPr/>
        </p:nvSpPr>
        <p:spPr>
          <a:xfrm>
            <a:off x="793790" y="6672263"/>
            <a:ext cx="13042822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Сезонный анализ показывает, что проблемы с доставкой носят </a:t>
            </a:r>
            <a:r>
              <a:rPr b="1"/>
              <a:t>системный</a:t>
            </a:r>
            <a:r>
              <a:t>, а не временный характер, оставаясь стабильно высокими в любое время года.</a:t>
            </a:r>
          </a:p>
        </p:txBody>
      </p:sp>
      <p:pic>
        <p:nvPicPr>
          <p:cNvPr id="440" name="Рисунок 23" descr="Рисунок 2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19458" y="2574374"/>
            <a:ext cx="4986223" cy="33241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 txBox="1"/>
          <p:nvPr/>
        </p:nvSpPr>
        <p:spPr>
          <a:xfrm>
            <a:off x="793789" y="1108234"/>
            <a:ext cx="8286522" cy="549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400"/>
              </a:lnSpc>
              <a:defRPr sz="35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Ключевые Выводы и Команда Проекта</a:t>
            </a:r>
          </a:p>
        </p:txBody>
      </p:sp>
      <p:sp>
        <p:nvSpPr>
          <p:cNvPr id="443" name="Shape 1"/>
          <p:cNvSpPr/>
          <p:nvPr/>
        </p:nvSpPr>
        <p:spPr>
          <a:xfrm>
            <a:off x="967654" y="2270522"/>
            <a:ext cx="6244710" cy="2184440"/>
          </a:xfrm>
          <a:prstGeom prst="roundRect">
            <a:avLst>
              <a:gd name="adj" fmla="val 1558"/>
            </a:avLst>
          </a:prstGeom>
          <a:solidFill>
            <a:srgbClr val="F9F6F0"/>
          </a:solidFill>
          <a:ln w="30480">
            <a:solidFill>
              <a:srgbClr val="D4CEC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Text 2"/>
          <p:cNvSpPr txBox="1"/>
          <p:nvPr/>
        </p:nvSpPr>
        <p:spPr>
          <a:xfrm>
            <a:off x="1224948" y="2527816"/>
            <a:ext cx="2703153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Основная Проблема</a:t>
            </a:r>
          </a:p>
        </p:txBody>
      </p:sp>
      <p:sp>
        <p:nvSpPr>
          <p:cNvPr id="445" name="Text 3"/>
          <p:cNvSpPr txBox="1"/>
          <p:nvPr/>
        </p:nvSpPr>
        <p:spPr>
          <a:xfrm>
            <a:off x="1224947" y="3108960"/>
            <a:ext cx="5730123" cy="1045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b="1"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Логистика.</a:t>
            </a:r>
            <a:r>
              <a:rPr b="0"/>
              <a:t> Массовые жалобы на отмену заказов и опоздания курьеров. Высокая частотность слова "заказ" в негативном контексте подтверждает это.</a:t>
            </a:r>
          </a:p>
        </p:txBody>
      </p:sp>
      <p:sp>
        <p:nvSpPr>
          <p:cNvPr id="446" name="Shape 4"/>
          <p:cNvSpPr/>
          <p:nvPr/>
        </p:nvSpPr>
        <p:spPr>
          <a:xfrm>
            <a:off x="967654" y="4681775"/>
            <a:ext cx="6244710" cy="2184441"/>
          </a:xfrm>
          <a:prstGeom prst="roundRect">
            <a:avLst>
              <a:gd name="adj" fmla="val 1558"/>
            </a:avLst>
          </a:prstGeom>
          <a:solidFill>
            <a:srgbClr val="F9F6F0"/>
          </a:solidFill>
          <a:ln w="30480">
            <a:solidFill>
              <a:srgbClr val="D4CEC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Text 5"/>
          <p:cNvSpPr txBox="1"/>
          <p:nvPr/>
        </p:nvSpPr>
        <p:spPr>
          <a:xfrm>
            <a:off x="1224948" y="4939069"/>
            <a:ext cx="2432485" cy="33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746558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Сильные Стороны</a:t>
            </a:r>
          </a:p>
        </p:txBody>
      </p:sp>
      <p:sp>
        <p:nvSpPr>
          <p:cNvPr id="448" name="Text 6"/>
          <p:cNvSpPr txBox="1"/>
          <p:nvPr/>
        </p:nvSpPr>
        <p:spPr>
          <a:xfrm>
            <a:off x="1224947" y="5520213"/>
            <a:ext cx="5730123" cy="1045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b="1"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pPr>
            <a:r>
              <a:t>Ценовая политика</a:t>
            </a:r>
            <a:r>
              <a:rPr b="0"/>
              <a:t> и </a:t>
            </a:r>
            <a:r>
              <a:t>широта ассортимента</a:t>
            </a:r>
            <a:r>
              <a:rPr b="0"/>
              <a:t> помогают удерживать общий рейтинг аптечных сетей на должном уровне.</a:t>
            </a:r>
          </a:p>
        </p:txBody>
      </p:sp>
      <p:sp>
        <p:nvSpPr>
          <p:cNvPr id="449" name="Text 7"/>
          <p:cNvSpPr txBox="1"/>
          <p:nvPr/>
        </p:nvSpPr>
        <p:spPr>
          <a:xfrm>
            <a:off x="7599520" y="2242185"/>
            <a:ext cx="2601107" cy="33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>
                <a:solidFill>
                  <a:srgbClr val="484237"/>
                </a:solidFill>
                <a:latin typeface="Gelasio Semi Bold"/>
                <a:ea typeface="Gelasio Semi Bold"/>
                <a:cs typeface="Gelasio Semi Bold"/>
                <a:sym typeface="Gelasio Semi Bold"/>
              </a:defRPr>
            </a:lvl1pPr>
          </a:lstStyle>
          <a:p>
            <a:pPr/>
            <a:r>
              <a:t>Работу Выполнили:</a:t>
            </a:r>
          </a:p>
        </p:txBody>
      </p:sp>
      <p:sp>
        <p:nvSpPr>
          <p:cNvPr id="450" name="Text 8"/>
          <p:cNvSpPr txBox="1"/>
          <p:nvPr/>
        </p:nvSpPr>
        <p:spPr>
          <a:xfrm>
            <a:off x="7599520" y="2823329"/>
            <a:ext cx="2014805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Берсанов Тимур</a:t>
            </a:r>
          </a:p>
        </p:txBody>
      </p:sp>
      <p:sp>
        <p:nvSpPr>
          <p:cNvPr id="451" name="Text 9"/>
          <p:cNvSpPr txBox="1"/>
          <p:nvPr/>
        </p:nvSpPr>
        <p:spPr>
          <a:xfrm>
            <a:off x="7599520" y="3265527"/>
            <a:ext cx="2149427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Забунков Леонид</a:t>
            </a:r>
          </a:p>
        </p:txBody>
      </p:sp>
      <p:sp>
        <p:nvSpPr>
          <p:cNvPr id="452" name="Text 10"/>
          <p:cNvSpPr txBox="1"/>
          <p:nvPr/>
        </p:nvSpPr>
        <p:spPr>
          <a:xfrm>
            <a:off x="7599520" y="3707724"/>
            <a:ext cx="2480761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Бессонов Александр</a:t>
            </a:r>
          </a:p>
        </p:txBody>
      </p:sp>
      <p:sp>
        <p:nvSpPr>
          <p:cNvPr id="453" name="Text 11"/>
          <p:cNvSpPr txBox="1"/>
          <p:nvPr/>
        </p:nvSpPr>
        <p:spPr>
          <a:xfrm>
            <a:off x="7599520" y="4149923"/>
            <a:ext cx="1750834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1700">
                <a:solidFill>
                  <a:srgbClr val="746558"/>
                </a:solidFill>
                <a:latin typeface="Gelasio"/>
                <a:ea typeface="Gelasio"/>
                <a:cs typeface="Gelasio"/>
                <a:sym typeface="Gelasio"/>
              </a:defRPr>
            </a:lvl1pPr>
          </a:lstStyle>
          <a:p>
            <a:pPr/>
            <a:r>
              <a:t>Злотин Ефим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Натуральные материалы">
  <a:themeElements>
    <a:clrScheme name="Натуральные материал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0000FF"/>
      </a:hlink>
      <a:folHlink>
        <a:srgbClr val="FF00FF"/>
      </a:folHlink>
    </a:clrScheme>
    <a:fontScheme name="Натуральные материалы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aramond"/>
            <a:ea typeface="Garamond"/>
            <a:cs typeface="Garamond"/>
            <a:sym typeface="Garamon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aramond"/>
            <a:ea typeface="Garamond"/>
            <a:cs typeface="Garamond"/>
            <a:sym typeface="Garamon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Натуральные материалы">
  <a:themeElements>
    <a:clrScheme name="Натуральные материал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0000FF"/>
      </a:hlink>
      <a:folHlink>
        <a:srgbClr val="FF00FF"/>
      </a:folHlink>
    </a:clrScheme>
    <a:fontScheme name="Натуральные материалы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aramond"/>
            <a:ea typeface="Garamond"/>
            <a:cs typeface="Garamond"/>
            <a:sym typeface="Garamon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aramond"/>
            <a:ea typeface="Garamond"/>
            <a:cs typeface="Garamond"/>
            <a:sym typeface="Garamon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